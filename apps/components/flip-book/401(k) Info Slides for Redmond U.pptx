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1"/>
  </p:sldMasterIdLst>
  <p:notesMasterIdLst>
    <p:notesMasterId r:id="rId9"/>
  </p:notesMasterIdLst>
  <p:sldIdLst>
    <p:sldId id="576" r:id="rId2"/>
    <p:sldId id="572" r:id="rId3"/>
    <p:sldId id="583" r:id="rId4"/>
    <p:sldId id="573" r:id="rId5"/>
    <p:sldId id="575" r:id="rId6"/>
    <p:sldId id="579" r:id="rId7"/>
    <p:sldId id="57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819"/>
    <p:restoredTop sz="95201"/>
  </p:normalViewPr>
  <p:slideViewPr>
    <p:cSldViewPr snapToGrid="0">
      <p:cViewPr varScale="1">
        <p:scale>
          <a:sx n="90" d="100"/>
          <a:sy n="90" d="100"/>
        </p:scale>
        <p:origin x="232" y="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5F7E15-31E2-3B40-85C8-E73710828C46}" type="datetimeFigureOut">
              <a:rPr lang="en-US" smtClean="0"/>
              <a:t>4/23/26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830A3F-4577-0942-A40F-4DC10CD5BE2C}" type="slidenum">
              <a:rPr lang="en-US" smtClean="0"/>
              <a:t>‹#›</a:t>
            </a:fld>
            <a:endParaRPr lang="en-US"/>
          </a:p>
        </p:txBody>
      </p:sp>
    </p:spTree>
    <p:extLst>
      <p:ext uri="{BB962C8B-B14F-4D97-AF65-F5344CB8AC3E}">
        <p14:creationId xmlns:p14="http://schemas.microsoft.com/office/powerpoint/2010/main" val="3759389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83F51647-C989-FF4B-9F11-298DE16E7AC9}" type="datetimeFigureOut">
              <a:rPr lang="en-US" smtClean="0"/>
              <a:t>4/23/26</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5A29FC7B-D565-6A45-982B-A0A9BB1960A9}" type="slidenum">
              <a:rPr lang="en-US" smtClean="0"/>
              <a:t>‹#›</a:t>
            </a:fld>
            <a:endParaRPr lang="en-US"/>
          </a:p>
        </p:txBody>
      </p:sp>
    </p:spTree>
    <p:extLst>
      <p:ext uri="{BB962C8B-B14F-4D97-AF65-F5344CB8AC3E}">
        <p14:creationId xmlns:p14="http://schemas.microsoft.com/office/powerpoint/2010/main" val="2716313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F51647-C989-FF4B-9F11-298DE16E7AC9}" type="datetimeFigureOut">
              <a:rPr lang="en-US" smtClean="0"/>
              <a:t>4/23/26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29FC7B-D565-6A45-982B-A0A9BB1960A9}" type="slidenum">
              <a:rPr lang="en-US" smtClean="0"/>
              <a:t>‹#›</a:t>
            </a:fld>
            <a:endParaRPr lang="en-US"/>
          </a:p>
        </p:txBody>
      </p:sp>
    </p:spTree>
    <p:extLst>
      <p:ext uri="{BB962C8B-B14F-4D97-AF65-F5344CB8AC3E}">
        <p14:creationId xmlns:p14="http://schemas.microsoft.com/office/powerpoint/2010/main" val="3282470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83F51647-C989-FF4B-9F11-298DE16E7AC9}" type="datetimeFigureOut">
              <a:rPr lang="en-US" smtClean="0"/>
              <a:t>4/23/26</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5A29FC7B-D565-6A45-982B-A0A9BB1960A9}" type="slidenum">
              <a:rPr lang="en-US" smtClean="0"/>
              <a:t>‹#›</a:t>
            </a:fld>
            <a:endParaRPr lang="en-US"/>
          </a:p>
        </p:txBody>
      </p:sp>
    </p:spTree>
    <p:extLst>
      <p:ext uri="{BB962C8B-B14F-4D97-AF65-F5344CB8AC3E}">
        <p14:creationId xmlns:p14="http://schemas.microsoft.com/office/powerpoint/2010/main" val="1101808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83F51647-C989-FF4B-9F11-298DE16E7AC9}" type="datetimeFigureOut">
              <a:rPr lang="en-US" smtClean="0"/>
              <a:t>4/23/26</a:t>
            </a:fld>
            <a:endParaRPr lang="en-US"/>
          </a:p>
        </p:txBody>
      </p:sp>
      <p:sp>
        <p:nvSpPr>
          <p:cNvPr id="6" name="Footer Placeholder 5"/>
          <p:cNvSpPr>
            <a:spLocks noGrp="1"/>
          </p:cNvSpPr>
          <p:nvPr>
            <p:ph type="ftr" sz="quarter" idx="11"/>
          </p:nvPr>
        </p:nvSpPr>
        <p:spPr>
          <a:xfrm>
            <a:off x="804672" y="6227064"/>
            <a:ext cx="10588752" cy="320040"/>
          </a:xfrm>
        </p:spPr>
        <p:txBody>
          <a:bodyPr/>
          <a:lstStyle/>
          <a:p>
            <a:endParaRPr lang="en-US"/>
          </a:p>
        </p:txBody>
      </p:sp>
      <p:sp>
        <p:nvSpPr>
          <p:cNvPr id="7" name="Slide Number Placeholder 6"/>
          <p:cNvSpPr>
            <a:spLocks noGrp="1"/>
          </p:cNvSpPr>
          <p:nvPr>
            <p:ph type="sldNum" sz="quarter" idx="12"/>
          </p:nvPr>
        </p:nvSpPr>
        <p:spPr>
          <a:xfrm>
            <a:off x="10469880" y="320040"/>
            <a:ext cx="914400" cy="320040"/>
          </a:xfrm>
        </p:spPr>
        <p:txBody>
          <a:bodyPr/>
          <a:lstStyle/>
          <a:p>
            <a:fld id="{5A29FC7B-D565-6A45-982B-A0A9BB1960A9}" type="slidenum">
              <a:rPr lang="en-US" smtClean="0"/>
              <a:t>‹#›</a:t>
            </a:fld>
            <a:endParaRPr lang="en-US"/>
          </a:p>
        </p:txBody>
      </p:sp>
    </p:spTree>
    <p:extLst>
      <p:ext uri="{BB962C8B-B14F-4D97-AF65-F5344CB8AC3E}">
        <p14:creationId xmlns:p14="http://schemas.microsoft.com/office/powerpoint/2010/main" val="3606791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83F51647-C989-FF4B-9F11-298DE16E7AC9}" type="datetimeFigureOut">
              <a:rPr lang="en-US" smtClean="0"/>
              <a:t>4/23/26</a:t>
            </a:fld>
            <a:endParaRPr lang="en-US"/>
          </a:p>
        </p:txBody>
      </p:sp>
      <p:sp>
        <p:nvSpPr>
          <p:cNvPr id="8" name="Footer Placeholder 7"/>
          <p:cNvSpPr>
            <a:spLocks noGrp="1"/>
          </p:cNvSpPr>
          <p:nvPr>
            <p:ph type="ftr" sz="quarter" idx="11"/>
          </p:nvPr>
        </p:nvSpPr>
        <p:spPr>
          <a:xfrm>
            <a:off x="804672" y="6227064"/>
            <a:ext cx="10588752" cy="320040"/>
          </a:xfrm>
        </p:spPr>
        <p:txBody>
          <a:bodyPr/>
          <a:lstStyle/>
          <a:p>
            <a:endParaRPr lang="en-US"/>
          </a:p>
        </p:txBody>
      </p:sp>
      <p:sp>
        <p:nvSpPr>
          <p:cNvPr id="9" name="Slide Number Placeholder 8"/>
          <p:cNvSpPr>
            <a:spLocks noGrp="1"/>
          </p:cNvSpPr>
          <p:nvPr>
            <p:ph type="sldNum" sz="quarter" idx="12"/>
          </p:nvPr>
        </p:nvSpPr>
        <p:spPr>
          <a:xfrm>
            <a:off x="10469880" y="320040"/>
            <a:ext cx="914400" cy="320040"/>
          </a:xfrm>
        </p:spPr>
        <p:txBody>
          <a:bodyPr/>
          <a:lstStyle/>
          <a:p>
            <a:fld id="{5A29FC7B-D565-6A45-982B-A0A9BB1960A9}" type="slidenum">
              <a:rPr lang="en-US" smtClean="0"/>
              <a:t>‹#›</a:t>
            </a:fld>
            <a:endParaRPr lang="en-US"/>
          </a:p>
        </p:txBody>
      </p:sp>
    </p:spTree>
    <p:extLst>
      <p:ext uri="{BB962C8B-B14F-4D97-AF65-F5344CB8AC3E}">
        <p14:creationId xmlns:p14="http://schemas.microsoft.com/office/powerpoint/2010/main" val="1567148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3F51647-C989-FF4B-9F11-298DE16E7AC9}" type="datetimeFigureOut">
              <a:rPr lang="en-US" smtClean="0"/>
              <a:t>4/23/26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29FC7B-D565-6A45-982B-A0A9BB1960A9}" type="slidenum">
              <a:rPr lang="en-US" smtClean="0"/>
              <a:t>‹#›</a:t>
            </a:fld>
            <a:endParaRPr lang="en-US"/>
          </a:p>
        </p:txBody>
      </p:sp>
    </p:spTree>
    <p:extLst>
      <p:ext uri="{BB962C8B-B14F-4D97-AF65-F5344CB8AC3E}">
        <p14:creationId xmlns:p14="http://schemas.microsoft.com/office/powerpoint/2010/main" val="553472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83F51647-C989-FF4B-9F11-298DE16E7AC9}" type="datetimeFigureOut">
              <a:rPr lang="en-US" smtClean="0"/>
              <a:t>4/23/26</a:t>
            </a:fld>
            <a:endParaRPr lang="en-US"/>
          </a:p>
        </p:txBody>
      </p:sp>
      <p:sp>
        <p:nvSpPr>
          <p:cNvPr id="3" name="Footer Placeholder 2"/>
          <p:cNvSpPr>
            <a:spLocks noGrp="1"/>
          </p:cNvSpPr>
          <p:nvPr>
            <p:ph type="ftr" sz="quarter" idx="11"/>
          </p:nvPr>
        </p:nvSpPr>
        <p:spPr>
          <a:xfrm>
            <a:off x="804672" y="6227064"/>
            <a:ext cx="10588752" cy="320040"/>
          </a:xfrm>
        </p:spPr>
        <p:txBody>
          <a:bodyPr/>
          <a:lstStyle/>
          <a:p>
            <a:endParaRPr lang="en-US"/>
          </a:p>
        </p:txBody>
      </p:sp>
      <p:sp>
        <p:nvSpPr>
          <p:cNvPr id="4" name="Slide Number Placeholder 3"/>
          <p:cNvSpPr>
            <a:spLocks noGrp="1"/>
          </p:cNvSpPr>
          <p:nvPr>
            <p:ph type="sldNum" sz="quarter" idx="12"/>
          </p:nvPr>
        </p:nvSpPr>
        <p:spPr>
          <a:xfrm>
            <a:off x="10469880" y="320040"/>
            <a:ext cx="914400" cy="320040"/>
          </a:xfrm>
        </p:spPr>
        <p:txBody>
          <a:bodyPr/>
          <a:lstStyle/>
          <a:p>
            <a:fld id="{5A29FC7B-D565-6A45-982B-A0A9BB1960A9}" type="slidenum">
              <a:rPr lang="en-US" smtClean="0"/>
              <a:t>‹#›</a:t>
            </a:fld>
            <a:endParaRPr lang="en-US"/>
          </a:p>
        </p:txBody>
      </p:sp>
    </p:spTree>
    <p:extLst>
      <p:ext uri="{BB962C8B-B14F-4D97-AF65-F5344CB8AC3E}">
        <p14:creationId xmlns:p14="http://schemas.microsoft.com/office/powerpoint/2010/main" val="2477571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F51647-C989-FF4B-9F11-298DE16E7AC9}" type="datetimeFigureOut">
              <a:rPr lang="en-US" smtClean="0"/>
              <a:t>4/23/26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29FC7B-D565-6A45-982B-A0A9BB1960A9}" type="slidenum">
              <a:rPr lang="en-US" smtClean="0"/>
              <a:t>‹#›</a:t>
            </a:fld>
            <a:endParaRPr lang="en-US"/>
          </a:p>
        </p:txBody>
      </p:sp>
    </p:spTree>
    <p:extLst>
      <p:ext uri="{BB962C8B-B14F-4D97-AF65-F5344CB8AC3E}">
        <p14:creationId xmlns:p14="http://schemas.microsoft.com/office/powerpoint/2010/main" val="207423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83F51647-C989-FF4B-9F11-298DE16E7AC9}" type="datetimeFigureOut">
              <a:rPr lang="en-US" smtClean="0"/>
              <a:t>4/23/26</a:t>
            </a:fld>
            <a:endParaRPr lang="en-US"/>
          </a:p>
        </p:txBody>
      </p:sp>
      <p:sp>
        <p:nvSpPr>
          <p:cNvPr id="6" name="Footer Placeholder 5"/>
          <p:cNvSpPr>
            <a:spLocks noGrp="1"/>
          </p:cNvSpPr>
          <p:nvPr>
            <p:ph type="ftr" sz="quarter" idx="11"/>
          </p:nvPr>
        </p:nvSpPr>
        <p:spPr>
          <a:xfrm>
            <a:off x="804672" y="6227064"/>
            <a:ext cx="5942203" cy="320040"/>
          </a:xfrm>
        </p:spPr>
        <p:txBody>
          <a:bodyPr/>
          <a:lstStyle/>
          <a:p>
            <a:endParaRPr lang="en-US"/>
          </a:p>
        </p:txBody>
      </p:sp>
      <p:sp>
        <p:nvSpPr>
          <p:cNvPr id="7" name="Slide Number Placeholder 6"/>
          <p:cNvSpPr>
            <a:spLocks noGrp="1"/>
          </p:cNvSpPr>
          <p:nvPr>
            <p:ph type="sldNum" sz="quarter" idx="12"/>
          </p:nvPr>
        </p:nvSpPr>
        <p:spPr>
          <a:xfrm>
            <a:off x="5828377" y="320040"/>
            <a:ext cx="914400" cy="320040"/>
          </a:xfrm>
        </p:spPr>
        <p:txBody>
          <a:bodyPr/>
          <a:lstStyle/>
          <a:p>
            <a:fld id="{5A29FC7B-D565-6A45-982B-A0A9BB1960A9}" type="slidenum">
              <a:rPr lang="en-US" smtClean="0"/>
              <a:t>‹#›</a:t>
            </a:fld>
            <a:endParaRPr lang="en-US"/>
          </a:p>
        </p:txBody>
      </p:sp>
    </p:spTree>
    <p:extLst>
      <p:ext uri="{BB962C8B-B14F-4D97-AF65-F5344CB8AC3E}">
        <p14:creationId xmlns:p14="http://schemas.microsoft.com/office/powerpoint/2010/main" val="4235398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F51647-C989-FF4B-9F11-298DE16E7AC9}" type="datetimeFigureOut">
              <a:rPr lang="en-US" smtClean="0"/>
              <a:t>4/23/26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29FC7B-D565-6A45-982B-A0A9BB1960A9}" type="slidenum">
              <a:rPr lang="en-US" smtClean="0"/>
              <a:t>‹#›</a:t>
            </a:fld>
            <a:endParaRPr lang="en-US"/>
          </a:p>
        </p:txBody>
      </p:sp>
    </p:spTree>
    <p:extLst>
      <p:ext uri="{BB962C8B-B14F-4D97-AF65-F5344CB8AC3E}">
        <p14:creationId xmlns:p14="http://schemas.microsoft.com/office/powerpoint/2010/main" val="1572715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83F51647-C989-FF4B-9F11-298DE16E7AC9}" type="datetimeFigureOut">
              <a:rPr lang="en-US" smtClean="0"/>
              <a:t>4/23/26</a:t>
            </a:fld>
            <a:endParaRPr lang="en-US"/>
          </a:p>
        </p:txBody>
      </p:sp>
      <p:sp>
        <p:nvSpPr>
          <p:cNvPr id="5" name="Footer Placeholder 4"/>
          <p:cNvSpPr>
            <a:spLocks noGrp="1"/>
          </p:cNvSpPr>
          <p:nvPr>
            <p:ph type="ftr" sz="quarter" idx="11"/>
          </p:nvPr>
        </p:nvSpPr>
        <p:spPr>
          <a:xfrm>
            <a:off x="804672" y="6227064"/>
            <a:ext cx="10588752" cy="320040"/>
          </a:xfrm>
        </p:spPr>
        <p:txBody>
          <a:body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5A29FC7B-D565-6A45-982B-A0A9BB1960A9}" type="slidenum">
              <a:rPr lang="en-US" smtClean="0"/>
              <a:t>‹#›</a:t>
            </a:fld>
            <a:endParaRPr lang="en-US"/>
          </a:p>
        </p:txBody>
      </p:sp>
    </p:spTree>
    <p:extLst>
      <p:ext uri="{BB962C8B-B14F-4D97-AF65-F5344CB8AC3E}">
        <p14:creationId xmlns:p14="http://schemas.microsoft.com/office/powerpoint/2010/main" val="609594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83F51647-C989-FF4B-9F11-298DE16E7AC9}" type="datetimeFigureOut">
              <a:rPr lang="en-US" smtClean="0"/>
              <a:t>4/23/26</a:t>
            </a:fld>
            <a:endParaRPr lang="en-US"/>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5A29FC7B-D565-6A45-982B-A0A9BB1960A9}" type="slidenum">
              <a:rPr lang="en-US" smtClean="0"/>
              <a:t>‹#›</a:t>
            </a:fld>
            <a:endParaRPr lang="en-US"/>
          </a:p>
        </p:txBody>
      </p:sp>
    </p:spTree>
    <p:extLst>
      <p:ext uri="{BB962C8B-B14F-4D97-AF65-F5344CB8AC3E}">
        <p14:creationId xmlns:p14="http://schemas.microsoft.com/office/powerpoint/2010/main" val="100115452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participant.empower-retirement.co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E8A5CB-4C7C-F218-5BE8-CD9CACF71A34}"/>
            </a:ext>
          </a:extLst>
        </p:cNvPr>
        <p:cNvGrpSpPr/>
        <p:nvPr/>
      </p:nvGrpSpPr>
      <p:grpSpPr>
        <a:xfrm>
          <a:off x="0" y="0"/>
          <a:ext cx="0" cy="0"/>
          <a:chOff x="0" y="0"/>
          <a:chExt cx="0" cy="0"/>
        </a:xfrm>
      </p:grpSpPr>
      <p:grpSp>
        <p:nvGrpSpPr>
          <p:cNvPr id="42" name="Group 41">
            <a:extLst>
              <a:ext uri="{FF2B5EF4-FFF2-40B4-BE49-F238E27FC236}">
                <a16:creationId xmlns:a16="http://schemas.microsoft.com/office/drawing/2014/main" id="{6F8C2D1D-5034-927D-99ED-CE2247E02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3" name="Freeform 5">
              <a:extLst>
                <a:ext uri="{FF2B5EF4-FFF2-40B4-BE49-F238E27FC236}">
                  <a16:creationId xmlns:a16="http://schemas.microsoft.com/office/drawing/2014/main" id="{0D38FEE5-E898-8BFB-F9B4-ED12EEBC0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6">
              <a:extLst>
                <a:ext uri="{FF2B5EF4-FFF2-40B4-BE49-F238E27FC236}">
                  <a16:creationId xmlns:a16="http://schemas.microsoft.com/office/drawing/2014/main" id="{C52BC8B5-29F6-5BDF-E82F-BC01C7F896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7">
              <a:extLst>
                <a:ext uri="{FF2B5EF4-FFF2-40B4-BE49-F238E27FC236}">
                  <a16:creationId xmlns:a16="http://schemas.microsoft.com/office/drawing/2014/main" id="{83F772F2-B1F7-C9D8-7B45-ABE48097C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8">
              <a:extLst>
                <a:ext uri="{FF2B5EF4-FFF2-40B4-BE49-F238E27FC236}">
                  <a16:creationId xmlns:a16="http://schemas.microsoft.com/office/drawing/2014/main" id="{FF5FE750-5B6B-43F2-B7AA-AC0B253680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9">
              <a:extLst>
                <a:ext uri="{FF2B5EF4-FFF2-40B4-BE49-F238E27FC236}">
                  <a16:creationId xmlns:a16="http://schemas.microsoft.com/office/drawing/2014/main" id="{4BCF3C22-A09E-E360-C34C-8757FDF7D4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0">
              <a:extLst>
                <a:ext uri="{FF2B5EF4-FFF2-40B4-BE49-F238E27FC236}">
                  <a16:creationId xmlns:a16="http://schemas.microsoft.com/office/drawing/2014/main" id="{FE5AF279-775E-AFEC-6F1F-C5841D83C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1">
              <a:extLst>
                <a:ext uri="{FF2B5EF4-FFF2-40B4-BE49-F238E27FC236}">
                  <a16:creationId xmlns:a16="http://schemas.microsoft.com/office/drawing/2014/main" id="{2BA046E4-B422-77E8-0A2E-92B2E955E4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2">
              <a:extLst>
                <a:ext uri="{FF2B5EF4-FFF2-40B4-BE49-F238E27FC236}">
                  <a16:creationId xmlns:a16="http://schemas.microsoft.com/office/drawing/2014/main" id="{4DF010E4-16FA-EB86-560C-F9EBB5B177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3">
              <a:extLst>
                <a:ext uri="{FF2B5EF4-FFF2-40B4-BE49-F238E27FC236}">
                  <a16:creationId xmlns:a16="http://schemas.microsoft.com/office/drawing/2014/main" id="{5560F487-06FA-2F84-55B9-25D9F50FF9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4">
              <a:extLst>
                <a:ext uri="{FF2B5EF4-FFF2-40B4-BE49-F238E27FC236}">
                  <a16:creationId xmlns:a16="http://schemas.microsoft.com/office/drawing/2014/main" id="{21F572C8-2642-8865-6BCD-903214DD45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5">
              <a:extLst>
                <a:ext uri="{FF2B5EF4-FFF2-40B4-BE49-F238E27FC236}">
                  <a16:creationId xmlns:a16="http://schemas.microsoft.com/office/drawing/2014/main" id="{1DF06402-54DB-7C35-4DEF-6EF7B13712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6">
              <a:extLst>
                <a:ext uri="{FF2B5EF4-FFF2-40B4-BE49-F238E27FC236}">
                  <a16:creationId xmlns:a16="http://schemas.microsoft.com/office/drawing/2014/main" id="{1E5C5A24-327D-92B4-75BC-5D054E9CFD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7">
              <a:extLst>
                <a:ext uri="{FF2B5EF4-FFF2-40B4-BE49-F238E27FC236}">
                  <a16:creationId xmlns:a16="http://schemas.microsoft.com/office/drawing/2014/main" id="{EFC87565-916E-EC07-6715-93BC5F085B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8">
              <a:extLst>
                <a:ext uri="{FF2B5EF4-FFF2-40B4-BE49-F238E27FC236}">
                  <a16:creationId xmlns:a16="http://schemas.microsoft.com/office/drawing/2014/main" id="{7C021A01-CDF3-42C6-741E-1C0621D4A1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9">
              <a:extLst>
                <a:ext uri="{FF2B5EF4-FFF2-40B4-BE49-F238E27FC236}">
                  <a16:creationId xmlns:a16="http://schemas.microsoft.com/office/drawing/2014/main" id="{D387FD6D-13E0-F38D-50AF-F6F66EE5ED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0">
              <a:extLst>
                <a:ext uri="{FF2B5EF4-FFF2-40B4-BE49-F238E27FC236}">
                  <a16:creationId xmlns:a16="http://schemas.microsoft.com/office/drawing/2014/main" id="{BCF8BA57-AE33-0ED0-4D9F-84A494ABE6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1">
              <a:extLst>
                <a:ext uri="{FF2B5EF4-FFF2-40B4-BE49-F238E27FC236}">
                  <a16:creationId xmlns:a16="http://schemas.microsoft.com/office/drawing/2014/main" id="{0586759C-A5A5-B481-4A61-691F63D865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2">
              <a:extLst>
                <a:ext uri="{FF2B5EF4-FFF2-40B4-BE49-F238E27FC236}">
                  <a16:creationId xmlns:a16="http://schemas.microsoft.com/office/drawing/2014/main" id="{B1309731-5C9D-E29C-EFFD-72042E83F6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3">
              <a:extLst>
                <a:ext uri="{FF2B5EF4-FFF2-40B4-BE49-F238E27FC236}">
                  <a16:creationId xmlns:a16="http://schemas.microsoft.com/office/drawing/2014/main" id="{AAEC4635-3B5E-ED0E-CF22-E4CED93D15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4">
              <a:extLst>
                <a:ext uri="{FF2B5EF4-FFF2-40B4-BE49-F238E27FC236}">
                  <a16:creationId xmlns:a16="http://schemas.microsoft.com/office/drawing/2014/main" id="{D070D62A-FE57-9FB5-AD98-6E9A56000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5">
              <a:extLst>
                <a:ext uri="{FF2B5EF4-FFF2-40B4-BE49-F238E27FC236}">
                  <a16:creationId xmlns:a16="http://schemas.microsoft.com/office/drawing/2014/main" id="{D923ADEF-F36E-7B70-6717-C97A0B81C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5" name="Group 64">
            <a:extLst>
              <a:ext uri="{FF2B5EF4-FFF2-40B4-BE49-F238E27FC236}">
                <a16:creationId xmlns:a16="http://schemas.microsoft.com/office/drawing/2014/main" id="{053073F4-ECDE-F3E6-28F7-ED15708825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66" name="Rectangle 65">
              <a:extLst>
                <a:ext uri="{FF2B5EF4-FFF2-40B4-BE49-F238E27FC236}">
                  <a16:creationId xmlns:a16="http://schemas.microsoft.com/office/drawing/2014/main" id="{36D0B7CF-C97B-3187-B46B-5BB39133D6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67" name="Isosceles Triangle 22">
              <a:extLst>
                <a:ext uri="{FF2B5EF4-FFF2-40B4-BE49-F238E27FC236}">
                  <a16:creationId xmlns:a16="http://schemas.microsoft.com/office/drawing/2014/main" id="{81577C7A-96BC-DE48-3C75-9BE3EDDAE2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8" name="Rectangle 67">
              <a:extLst>
                <a:ext uri="{FF2B5EF4-FFF2-40B4-BE49-F238E27FC236}">
                  <a16:creationId xmlns:a16="http://schemas.microsoft.com/office/drawing/2014/main" id="{EEB41CFA-BFC7-89EC-F70F-A78EBAFF3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70" name="Rectangle 69">
            <a:extLst>
              <a:ext uri="{FF2B5EF4-FFF2-40B4-BE49-F238E27FC236}">
                <a16:creationId xmlns:a16="http://schemas.microsoft.com/office/drawing/2014/main" id="{FE713A94-BC49-4CCE-F515-958E0AF0A7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71">
            <a:extLst>
              <a:ext uri="{FF2B5EF4-FFF2-40B4-BE49-F238E27FC236}">
                <a16:creationId xmlns:a16="http://schemas.microsoft.com/office/drawing/2014/main" id="{493FCED4-E6F5-EEA1-826A-42F2C1C34A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73" name="Freeform 5">
              <a:extLst>
                <a:ext uri="{FF2B5EF4-FFF2-40B4-BE49-F238E27FC236}">
                  <a16:creationId xmlns:a16="http://schemas.microsoft.com/office/drawing/2014/main" id="{4E69E2D4-97E0-31AD-72C9-A19840BA06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 name="Freeform 6">
              <a:extLst>
                <a:ext uri="{FF2B5EF4-FFF2-40B4-BE49-F238E27FC236}">
                  <a16:creationId xmlns:a16="http://schemas.microsoft.com/office/drawing/2014/main" id="{13C05F5E-C721-7E05-3E4C-A7B2B3470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 name="Freeform 7">
              <a:extLst>
                <a:ext uri="{FF2B5EF4-FFF2-40B4-BE49-F238E27FC236}">
                  <a16:creationId xmlns:a16="http://schemas.microsoft.com/office/drawing/2014/main" id="{8EBD3FE0-60BC-6EFA-1DC3-EDF1896E0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6" name="Freeform 8">
              <a:extLst>
                <a:ext uri="{FF2B5EF4-FFF2-40B4-BE49-F238E27FC236}">
                  <a16:creationId xmlns:a16="http://schemas.microsoft.com/office/drawing/2014/main" id="{C4DA5C40-A078-A958-78E5-872FB196BC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9">
              <a:extLst>
                <a:ext uri="{FF2B5EF4-FFF2-40B4-BE49-F238E27FC236}">
                  <a16:creationId xmlns:a16="http://schemas.microsoft.com/office/drawing/2014/main" id="{95ECE046-1DE5-5013-1E64-AB663CEC1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10">
              <a:extLst>
                <a:ext uri="{FF2B5EF4-FFF2-40B4-BE49-F238E27FC236}">
                  <a16:creationId xmlns:a16="http://schemas.microsoft.com/office/drawing/2014/main" id="{74DFD3B3-C36F-F94F-F190-165B90661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11">
              <a:extLst>
                <a:ext uri="{FF2B5EF4-FFF2-40B4-BE49-F238E27FC236}">
                  <a16:creationId xmlns:a16="http://schemas.microsoft.com/office/drawing/2014/main" id="{4EDA96DA-72BB-BAC3-9B91-47B5480BAB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12">
              <a:extLst>
                <a:ext uri="{FF2B5EF4-FFF2-40B4-BE49-F238E27FC236}">
                  <a16:creationId xmlns:a16="http://schemas.microsoft.com/office/drawing/2014/main" id="{1A1F285F-9557-E154-5079-98353C4202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13">
              <a:extLst>
                <a:ext uri="{FF2B5EF4-FFF2-40B4-BE49-F238E27FC236}">
                  <a16:creationId xmlns:a16="http://schemas.microsoft.com/office/drawing/2014/main" id="{4FBF0A18-1516-665A-13E3-AAE4507220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14">
              <a:extLst>
                <a:ext uri="{FF2B5EF4-FFF2-40B4-BE49-F238E27FC236}">
                  <a16:creationId xmlns:a16="http://schemas.microsoft.com/office/drawing/2014/main" id="{FA358CD9-3F37-7FB9-BE99-D34D40DC97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5">
              <a:extLst>
                <a:ext uri="{FF2B5EF4-FFF2-40B4-BE49-F238E27FC236}">
                  <a16:creationId xmlns:a16="http://schemas.microsoft.com/office/drawing/2014/main" id="{3DD265BE-61D7-36F7-8A4A-6EEDD063EF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6">
              <a:extLst>
                <a:ext uri="{FF2B5EF4-FFF2-40B4-BE49-F238E27FC236}">
                  <a16:creationId xmlns:a16="http://schemas.microsoft.com/office/drawing/2014/main" id="{8919B634-1AFD-6D0D-03E0-CF883CB99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7">
              <a:extLst>
                <a:ext uri="{FF2B5EF4-FFF2-40B4-BE49-F238E27FC236}">
                  <a16:creationId xmlns:a16="http://schemas.microsoft.com/office/drawing/2014/main" id="{D7565F88-AFC6-8F86-9F37-3C06DBE920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8">
              <a:extLst>
                <a:ext uri="{FF2B5EF4-FFF2-40B4-BE49-F238E27FC236}">
                  <a16:creationId xmlns:a16="http://schemas.microsoft.com/office/drawing/2014/main" id="{4431D61D-BA7F-5AA2-E7A5-7D4C961DC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9">
              <a:extLst>
                <a:ext uri="{FF2B5EF4-FFF2-40B4-BE49-F238E27FC236}">
                  <a16:creationId xmlns:a16="http://schemas.microsoft.com/office/drawing/2014/main" id="{285E332A-0BDC-E008-FF31-53F7D5AB49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20">
              <a:extLst>
                <a:ext uri="{FF2B5EF4-FFF2-40B4-BE49-F238E27FC236}">
                  <a16:creationId xmlns:a16="http://schemas.microsoft.com/office/drawing/2014/main" id="{6B6BDFE8-1E64-CB63-22EA-CBF778EC3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21">
              <a:extLst>
                <a:ext uri="{FF2B5EF4-FFF2-40B4-BE49-F238E27FC236}">
                  <a16:creationId xmlns:a16="http://schemas.microsoft.com/office/drawing/2014/main" id="{94C5C26B-3E05-9554-3511-E8A7D46CEB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22">
              <a:extLst>
                <a:ext uri="{FF2B5EF4-FFF2-40B4-BE49-F238E27FC236}">
                  <a16:creationId xmlns:a16="http://schemas.microsoft.com/office/drawing/2014/main" id="{98B5DCF8-5199-E255-6686-661D34D5E6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23">
              <a:extLst>
                <a:ext uri="{FF2B5EF4-FFF2-40B4-BE49-F238E27FC236}">
                  <a16:creationId xmlns:a16="http://schemas.microsoft.com/office/drawing/2014/main" id="{4FD6D1C6-E8A9-0A13-589E-9C382137F8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24">
              <a:extLst>
                <a:ext uri="{FF2B5EF4-FFF2-40B4-BE49-F238E27FC236}">
                  <a16:creationId xmlns:a16="http://schemas.microsoft.com/office/drawing/2014/main" id="{2595FFCC-D766-8780-A788-D416A08F8C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25">
              <a:extLst>
                <a:ext uri="{FF2B5EF4-FFF2-40B4-BE49-F238E27FC236}">
                  <a16:creationId xmlns:a16="http://schemas.microsoft.com/office/drawing/2014/main" id="{B0B83ED5-2F2F-21DC-6522-26A354602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useBgFill="1">
        <p:nvSpPr>
          <p:cNvPr id="95" name="Rectangle 94">
            <a:extLst>
              <a:ext uri="{FF2B5EF4-FFF2-40B4-BE49-F238E27FC236}">
                <a16:creationId xmlns:a16="http://schemas.microsoft.com/office/drawing/2014/main" id="{6415B806-2EA1-CDFF-B6A0-3558FD8CA2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1A2CEB8-9E6E-F502-FA63-D835524C64DB}"/>
              </a:ext>
            </a:extLst>
          </p:cNvPr>
          <p:cNvSpPr txBox="1"/>
          <p:nvPr/>
        </p:nvSpPr>
        <p:spPr>
          <a:xfrm>
            <a:off x="2142222" y="147091"/>
            <a:ext cx="9736868" cy="1375076"/>
          </a:xfrm>
          <a:prstGeom prst="rect">
            <a:avLst/>
          </a:prstGeom>
        </p:spPr>
        <p:txBody>
          <a:bodyPr vert="horz" lIns="228600" tIns="228600" rIns="228600" bIns="228600" rtlCol="0" anchor="t">
            <a:normAutofit/>
          </a:bodyPr>
          <a:lstStyle/>
          <a:p>
            <a:pPr defTabSz="914400">
              <a:lnSpc>
                <a:spcPct val="85000"/>
              </a:lnSpc>
              <a:spcBef>
                <a:spcPct val="0"/>
              </a:spcBef>
              <a:spcAft>
                <a:spcPts val="600"/>
              </a:spcAft>
            </a:pPr>
            <a:r>
              <a:rPr lang="en-US" sz="5200" b="1" spc="-150" dirty="0">
                <a:solidFill>
                  <a:srgbClr val="C00000"/>
                </a:solidFill>
                <a:latin typeface="Calibri" panose="020F0502020204030204" pitchFamily="34" charset="0"/>
                <a:ea typeface="+mj-ea"/>
                <a:cs typeface="Calibri" panose="020F0502020204030204" pitchFamily="34" charset="0"/>
              </a:rPr>
              <a:t>Topics covered</a:t>
            </a:r>
          </a:p>
        </p:txBody>
      </p:sp>
      <p:sp>
        <p:nvSpPr>
          <p:cNvPr id="97" name="Isosceles Triangle 96">
            <a:extLst>
              <a:ext uri="{FF2B5EF4-FFF2-40B4-BE49-F238E27FC236}">
                <a16:creationId xmlns:a16="http://schemas.microsoft.com/office/drawing/2014/main" id="{D6F9BB72-80F2-C1C6-46E6-0ACC609DF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4" name="Content Placeholder 2">
            <a:extLst>
              <a:ext uri="{FF2B5EF4-FFF2-40B4-BE49-F238E27FC236}">
                <a16:creationId xmlns:a16="http://schemas.microsoft.com/office/drawing/2014/main" id="{22495F56-9B31-6FED-5838-B86C0E898507}"/>
              </a:ext>
            </a:extLst>
          </p:cNvPr>
          <p:cNvSpPr txBox="1">
            <a:spLocks/>
          </p:cNvSpPr>
          <p:nvPr/>
        </p:nvSpPr>
        <p:spPr>
          <a:xfrm>
            <a:off x="1923665" y="1141711"/>
            <a:ext cx="10052435" cy="5569198"/>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646113" indent="-452438">
              <a:lnSpc>
                <a:spcPct val="100000"/>
              </a:lnSpc>
              <a:spcBef>
                <a:spcPts val="600"/>
              </a:spcBef>
              <a:spcAft>
                <a:spcPts val="600"/>
              </a:spcAft>
            </a:pPr>
            <a:r>
              <a:rPr lang="en-US" sz="3600" dirty="0"/>
              <a:t>Overview of Redmond’s 401(k) plan</a:t>
            </a:r>
          </a:p>
          <a:p>
            <a:pPr marL="646113" indent="-452438">
              <a:lnSpc>
                <a:spcPct val="100000"/>
              </a:lnSpc>
              <a:spcBef>
                <a:spcPts val="600"/>
              </a:spcBef>
              <a:spcAft>
                <a:spcPts val="600"/>
              </a:spcAft>
            </a:pPr>
            <a:r>
              <a:rPr lang="en-US" sz="3600" dirty="0"/>
              <a:t>Types of contributions (ROTH or Traditional)</a:t>
            </a:r>
          </a:p>
          <a:p>
            <a:pPr marL="646113" indent="-452438">
              <a:lnSpc>
                <a:spcPct val="100000"/>
              </a:lnSpc>
              <a:spcBef>
                <a:spcPts val="600"/>
              </a:spcBef>
              <a:spcAft>
                <a:spcPts val="600"/>
              </a:spcAft>
            </a:pPr>
            <a:r>
              <a:rPr lang="en-US" sz="3600" dirty="0"/>
              <a:t>How to register your account (see video)</a:t>
            </a:r>
          </a:p>
          <a:p>
            <a:pPr marL="646113" indent="-452438">
              <a:lnSpc>
                <a:spcPct val="100000"/>
              </a:lnSpc>
              <a:spcBef>
                <a:spcPts val="600"/>
              </a:spcBef>
              <a:spcAft>
                <a:spcPts val="600"/>
              </a:spcAft>
            </a:pPr>
            <a:r>
              <a:rPr lang="en-US" sz="3600" dirty="0"/>
              <a:t>How to adjust your contributions and investments (see video)</a:t>
            </a:r>
          </a:p>
          <a:p>
            <a:pPr marL="646113" indent="-452438">
              <a:lnSpc>
                <a:spcPct val="100000"/>
              </a:lnSpc>
              <a:spcBef>
                <a:spcPts val="600"/>
              </a:spcBef>
              <a:spcAft>
                <a:spcPts val="600"/>
              </a:spcAft>
            </a:pPr>
            <a:endParaRPr lang="en-US" sz="3600" dirty="0"/>
          </a:p>
          <a:p>
            <a:pPr marL="646113" indent="-452438">
              <a:lnSpc>
                <a:spcPct val="100000"/>
              </a:lnSpc>
              <a:spcBef>
                <a:spcPts val="0"/>
              </a:spcBef>
              <a:spcAft>
                <a:spcPts val="600"/>
              </a:spcAft>
            </a:pPr>
            <a:endParaRPr lang="en-US" sz="2800" dirty="0"/>
          </a:p>
        </p:txBody>
      </p:sp>
    </p:spTree>
    <p:extLst>
      <p:ext uri="{BB962C8B-B14F-4D97-AF65-F5344CB8AC3E}">
        <p14:creationId xmlns:p14="http://schemas.microsoft.com/office/powerpoint/2010/main" val="3220573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EDE299-C96F-EF3C-34D4-8BBE5198BD2E}"/>
            </a:ext>
          </a:extLst>
        </p:cNvPr>
        <p:cNvGrpSpPr/>
        <p:nvPr/>
      </p:nvGrpSpPr>
      <p:grpSpPr>
        <a:xfrm>
          <a:off x="0" y="0"/>
          <a:ext cx="0" cy="0"/>
          <a:chOff x="0" y="0"/>
          <a:chExt cx="0" cy="0"/>
        </a:xfrm>
      </p:grpSpPr>
      <p:grpSp>
        <p:nvGrpSpPr>
          <p:cNvPr id="42" name="Group 41">
            <a:extLst>
              <a:ext uri="{FF2B5EF4-FFF2-40B4-BE49-F238E27FC236}">
                <a16:creationId xmlns:a16="http://schemas.microsoft.com/office/drawing/2014/main" id="{1B6169B2-989A-F540-3450-2BA1D0168B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3" name="Freeform 5">
              <a:extLst>
                <a:ext uri="{FF2B5EF4-FFF2-40B4-BE49-F238E27FC236}">
                  <a16:creationId xmlns:a16="http://schemas.microsoft.com/office/drawing/2014/main" id="{770A2429-AC8C-B1E6-8154-A4CC10AA50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6">
              <a:extLst>
                <a:ext uri="{FF2B5EF4-FFF2-40B4-BE49-F238E27FC236}">
                  <a16:creationId xmlns:a16="http://schemas.microsoft.com/office/drawing/2014/main" id="{410ED9CA-0745-FAF2-784F-51D5AABF7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7">
              <a:extLst>
                <a:ext uri="{FF2B5EF4-FFF2-40B4-BE49-F238E27FC236}">
                  <a16:creationId xmlns:a16="http://schemas.microsoft.com/office/drawing/2014/main" id="{A5254A9E-EAAF-0778-10CA-5061B80E24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8">
              <a:extLst>
                <a:ext uri="{FF2B5EF4-FFF2-40B4-BE49-F238E27FC236}">
                  <a16:creationId xmlns:a16="http://schemas.microsoft.com/office/drawing/2014/main" id="{3E308CC6-6F86-89B7-FE81-2F6800F8D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9">
              <a:extLst>
                <a:ext uri="{FF2B5EF4-FFF2-40B4-BE49-F238E27FC236}">
                  <a16:creationId xmlns:a16="http://schemas.microsoft.com/office/drawing/2014/main" id="{576EE703-FBDC-084D-6945-7AE5977A0D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0">
              <a:extLst>
                <a:ext uri="{FF2B5EF4-FFF2-40B4-BE49-F238E27FC236}">
                  <a16:creationId xmlns:a16="http://schemas.microsoft.com/office/drawing/2014/main" id="{0D966A60-E610-0D61-C19D-1C9CE9E9B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1">
              <a:extLst>
                <a:ext uri="{FF2B5EF4-FFF2-40B4-BE49-F238E27FC236}">
                  <a16:creationId xmlns:a16="http://schemas.microsoft.com/office/drawing/2014/main" id="{05C72C28-74F7-054F-8597-B6D4A36B4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2">
              <a:extLst>
                <a:ext uri="{FF2B5EF4-FFF2-40B4-BE49-F238E27FC236}">
                  <a16:creationId xmlns:a16="http://schemas.microsoft.com/office/drawing/2014/main" id="{D4D09C89-5BAC-CFDB-840F-D84AC2AA03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3">
              <a:extLst>
                <a:ext uri="{FF2B5EF4-FFF2-40B4-BE49-F238E27FC236}">
                  <a16:creationId xmlns:a16="http://schemas.microsoft.com/office/drawing/2014/main" id="{72395002-4497-457D-A4D6-755AC761CD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4">
              <a:extLst>
                <a:ext uri="{FF2B5EF4-FFF2-40B4-BE49-F238E27FC236}">
                  <a16:creationId xmlns:a16="http://schemas.microsoft.com/office/drawing/2014/main" id="{10254A04-51EC-9369-BADE-74B0FD24E4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5">
              <a:extLst>
                <a:ext uri="{FF2B5EF4-FFF2-40B4-BE49-F238E27FC236}">
                  <a16:creationId xmlns:a16="http://schemas.microsoft.com/office/drawing/2014/main" id="{F51C8B9B-55FC-E583-3AEF-D4F88E12D3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6">
              <a:extLst>
                <a:ext uri="{FF2B5EF4-FFF2-40B4-BE49-F238E27FC236}">
                  <a16:creationId xmlns:a16="http://schemas.microsoft.com/office/drawing/2014/main" id="{0E9F35B8-5833-ED30-25BA-823C2A14E0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7">
              <a:extLst>
                <a:ext uri="{FF2B5EF4-FFF2-40B4-BE49-F238E27FC236}">
                  <a16:creationId xmlns:a16="http://schemas.microsoft.com/office/drawing/2014/main" id="{8D30AE79-CC2E-8913-97A7-C592D1EDCB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8">
              <a:extLst>
                <a:ext uri="{FF2B5EF4-FFF2-40B4-BE49-F238E27FC236}">
                  <a16:creationId xmlns:a16="http://schemas.microsoft.com/office/drawing/2014/main" id="{96D6CA16-37C7-A1C1-005F-A142E2511E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9">
              <a:extLst>
                <a:ext uri="{FF2B5EF4-FFF2-40B4-BE49-F238E27FC236}">
                  <a16:creationId xmlns:a16="http://schemas.microsoft.com/office/drawing/2014/main" id="{80B20457-3510-FA46-637E-CCD185C6FB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0">
              <a:extLst>
                <a:ext uri="{FF2B5EF4-FFF2-40B4-BE49-F238E27FC236}">
                  <a16:creationId xmlns:a16="http://schemas.microsoft.com/office/drawing/2014/main" id="{D0C692F2-99B1-A82B-CDCA-0D796C92C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1">
              <a:extLst>
                <a:ext uri="{FF2B5EF4-FFF2-40B4-BE49-F238E27FC236}">
                  <a16:creationId xmlns:a16="http://schemas.microsoft.com/office/drawing/2014/main" id="{32318065-B414-8611-0BEB-161CF3DEFD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2">
              <a:extLst>
                <a:ext uri="{FF2B5EF4-FFF2-40B4-BE49-F238E27FC236}">
                  <a16:creationId xmlns:a16="http://schemas.microsoft.com/office/drawing/2014/main" id="{EE6FA581-FAEB-744A-1D49-8686EB552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3">
              <a:extLst>
                <a:ext uri="{FF2B5EF4-FFF2-40B4-BE49-F238E27FC236}">
                  <a16:creationId xmlns:a16="http://schemas.microsoft.com/office/drawing/2014/main" id="{ACE2AC93-AB89-665F-88D0-ACD43B0A8B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4">
              <a:extLst>
                <a:ext uri="{FF2B5EF4-FFF2-40B4-BE49-F238E27FC236}">
                  <a16:creationId xmlns:a16="http://schemas.microsoft.com/office/drawing/2014/main" id="{5238F05B-D7C7-6934-652E-30A01DFB63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5">
              <a:extLst>
                <a:ext uri="{FF2B5EF4-FFF2-40B4-BE49-F238E27FC236}">
                  <a16:creationId xmlns:a16="http://schemas.microsoft.com/office/drawing/2014/main" id="{9BAA773B-3AA4-461A-A878-1B89DAB8BB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5" name="Group 64">
            <a:extLst>
              <a:ext uri="{FF2B5EF4-FFF2-40B4-BE49-F238E27FC236}">
                <a16:creationId xmlns:a16="http://schemas.microsoft.com/office/drawing/2014/main" id="{98D72934-7255-0FB5-10AC-A6D4DC07F1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66" name="Rectangle 65">
              <a:extLst>
                <a:ext uri="{FF2B5EF4-FFF2-40B4-BE49-F238E27FC236}">
                  <a16:creationId xmlns:a16="http://schemas.microsoft.com/office/drawing/2014/main" id="{057088B3-34F8-4AEA-9488-571E9F037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67" name="Isosceles Triangle 22">
              <a:extLst>
                <a:ext uri="{FF2B5EF4-FFF2-40B4-BE49-F238E27FC236}">
                  <a16:creationId xmlns:a16="http://schemas.microsoft.com/office/drawing/2014/main" id="{D85BD5C2-A9B5-A184-7C1C-62B2A42393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8" name="Rectangle 67">
              <a:extLst>
                <a:ext uri="{FF2B5EF4-FFF2-40B4-BE49-F238E27FC236}">
                  <a16:creationId xmlns:a16="http://schemas.microsoft.com/office/drawing/2014/main" id="{EF186E51-7900-D768-DB0B-DAD7C8E39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70" name="Rectangle 69">
            <a:extLst>
              <a:ext uri="{FF2B5EF4-FFF2-40B4-BE49-F238E27FC236}">
                <a16:creationId xmlns:a16="http://schemas.microsoft.com/office/drawing/2014/main" id="{DEFA0FFC-B5E2-98E1-A098-F06FC1E30C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71">
            <a:extLst>
              <a:ext uri="{FF2B5EF4-FFF2-40B4-BE49-F238E27FC236}">
                <a16:creationId xmlns:a16="http://schemas.microsoft.com/office/drawing/2014/main" id="{425568FE-D33F-C5F1-5003-CDCA98DF05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73" name="Freeform 5">
              <a:extLst>
                <a:ext uri="{FF2B5EF4-FFF2-40B4-BE49-F238E27FC236}">
                  <a16:creationId xmlns:a16="http://schemas.microsoft.com/office/drawing/2014/main" id="{01011075-0EB4-2B6D-F1FE-4C8DF914BC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 name="Freeform 6">
              <a:extLst>
                <a:ext uri="{FF2B5EF4-FFF2-40B4-BE49-F238E27FC236}">
                  <a16:creationId xmlns:a16="http://schemas.microsoft.com/office/drawing/2014/main" id="{15B254A2-B1CA-E8CF-C04D-7BF60F61BE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 name="Freeform 7">
              <a:extLst>
                <a:ext uri="{FF2B5EF4-FFF2-40B4-BE49-F238E27FC236}">
                  <a16:creationId xmlns:a16="http://schemas.microsoft.com/office/drawing/2014/main" id="{4141E616-9FB4-A979-1936-CBA818505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6" name="Freeform 8">
              <a:extLst>
                <a:ext uri="{FF2B5EF4-FFF2-40B4-BE49-F238E27FC236}">
                  <a16:creationId xmlns:a16="http://schemas.microsoft.com/office/drawing/2014/main" id="{C47649BC-D17D-7CA0-699A-F68E3AC24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9">
              <a:extLst>
                <a:ext uri="{FF2B5EF4-FFF2-40B4-BE49-F238E27FC236}">
                  <a16:creationId xmlns:a16="http://schemas.microsoft.com/office/drawing/2014/main" id="{6455FCC1-72EB-37DB-D6F3-AA1B0498F7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10">
              <a:extLst>
                <a:ext uri="{FF2B5EF4-FFF2-40B4-BE49-F238E27FC236}">
                  <a16:creationId xmlns:a16="http://schemas.microsoft.com/office/drawing/2014/main" id="{00067E8B-B78E-DB2B-392D-3F34FF8CDB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11">
              <a:extLst>
                <a:ext uri="{FF2B5EF4-FFF2-40B4-BE49-F238E27FC236}">
                  <a16:creationId xmlns:a16="http://schemas.microsoft.com/office/drawing/2014/main" id="{BB1F84C1-F5E8-E622-9200-72A65492D6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12">
              <a:extLst>
                <a:ext uri="{FF2B5EF4-FFF2-40B4-BE49-F238E27FC236}">
                  <a16:creationId xmlns:a16="http://schemas.microsoft.com/office/drawing/2014/main" id="{674B9FCB-A92F-D62D-895A-DD16A5E7F4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13">
              <a:extLst>
                <a:ext uri="{FF2B5EF4-FFF2-40B4-BE49-F238E27FC236}">
                  <a16:creationId xmlns:a16="http://schemas.microsoft.com/office/drawing/2014/main" id="{23133D8A-C405-E14C-DE2E-48A863D975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14">
              <a:extLst>
                <a:ext uri="{FF2B5EF4-FFF2-40B4-BE49-F238E27FC236}">
                  <a16:creationId xmlns:a16="http://schemas.microsoft.com/office/drawing/2014/main" id="{5CA321A3-DC01-211F-8310-AD2B0E337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5">
              <a:extLst>
                <a:ext uri="{FF2B5EF4-FFF2-40B4-BE49-F238E27FC236}">
                  <a16:creationId xmlns:a16="http://schemas.microsoft.com/office/drawing/2014/main" id="{845FD58F-F9C4-3D9B-B161-48C4A4CE64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6">
              <a:extLst>
                <a:ext uri="{FF2B5EF4-FFF2-40B4-BE49-F238E27FC236}">
                  <a16:creationId xmlns:a16="http://schemas.microsoft.com/office/drawing/2014/main" id="{FC6AB219-2C55-3C4D-CB87-436DA4C3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7">
              <a:extLst>
                <a:ext uri="{FF2B5EF4-FFF2-40B4-BE49-F238E27FC236}">
                  <a16:creationId xmlns:a16="http://schemas.microsoft.com/office/drawing/2014/main" id="{CB4A03D7-E449-8798-6389-7FE0844E38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8">
              <a:extLst>
                <a:ext uri="{FF2B5EF4-FFF2-40B4-BE49-F238E27FC236}">
                  <a16:creationId xmlns:a16="http://schemas.microsoft.com/office/drawing/2014/main" id="{B5ED60DE-BBE3-4FCC-AE21-8366A4772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9">
              <a:extLst>
                <a:ext uri="{FF2B5EF4-FFF2-40B4-BE49-F238E27FC236}">
                  <a16:creationId xmlns:a16="http://schemas.microsoft.com/office/drawing/2014/main" id="{A63E5AFA-D434-A91D-8E69-2CB94C7DB0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20">
              <a:extLst>
                <a:ext uri="{FF2B5EF4-FFF2-40B4-BE49-F238E27FC236}">
                  <a16:creationId xmlns:a16="http://schemas.microsoft.com/office/drawing/2014/main" id="{C6FBF3C1-E081-75FB-8E75-78F89F7D75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21">
              <a:extLst>
                <a:ext uri="{FF2B5EF4-FFF2-40B4-BE49-F238E27FC236}">
                  <a16:creationId xmlns:a16="http://schemas.microsoft.com/office/drawing/2014/main" id="{C5B716C0-AB17-E093-3098-70EDDC4802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22">
              <a:extLst>
                <a:ext uri="{FF2B5EF4-FFF2-40B4-BE49-F238E27FC236}">
                  <a16:creationId xmlns:a16="http://schemas.microsoft.com/office/drawing/2014/main" id="{FEC89D67-FF3A-10CC-FB22-D7AD66BC60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23">
              <a:extLst>
                <a:ext uri="{FF2B5EF4-FFF2-40B4-BE49-F238E27FC236}">
                  <a16:creationId xmlns:a16="http://schemas.microsoft.com/office/drawing/2014/main" id="{A347906D-5668-FEB9-0CC8-8632E5CCA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24">
              <a:extLst>
                <a:ext uri="{FF2B5EF4-FFF2-40B4-BE49-F238E27FC236}">
                  <a16:creationId xmlns:a16="http://schemas.microsoft.com/office/drawing/2014/main" id="{F5A46AF2-F79E-97D7-4103-97216AEEE6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25">
              <a:extLst>
                <a:ext uri="{FF2B5EF4-FFF2-40B4-BE49-F238E27FC236}">
                  <a16:creationId xmlns:a16="http://schemas.microsoft.com/office/drawing/2014/main" id="{59EA54D5-16D9-7886-46AB-E3390A69BB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useBgFill="1">
        <p:nvSpPr>
          <p:cNvPr id="95" name="Rectangle 94">
            <a:extLst>
              <a:ext uri="{FF2B5EF4-FFF2-40B4-BE49-F238E27FC236}">
                <a16:creationId xmlns:a16="http://schemas.microsoft.com/office/drawing/2014/main" id="{FA4EDC5A-F9A0-D725-F466-DBDF14836A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D3147DB-C08D-3428-5042-E6DF387E02E5}"/>
              </a:ext>
            </a:extLst>
          </p:cNvPr>
          <p:cNvSpPr txBox="1"/>
          <p:nvPr/>
        </p:nvSpPr>
        <p:spPr>
          <a:xfrm>
            <a:off x="2142222" y="147091"/>
            <a:ext cx="9736868" cy="1375076"/>
          </a:xfrm>
          <a:prstGeom prst="rect">
            <a:avLst/>
          </a:prstGeom>
        </p:spPr>
        <p:txBody>
          <a:bodyPr vert="horz" lIns="228600" tIns="228600" rIns="228600" bIns="228600" rtlCol="0" anchor="t">
            <a:normAutofit/>
          </a:bodyPr>
          <a:lstStyle/>
          <a:p>
            <a:pPr defTabSz="914400">
              <a:lnSpc>
                <a:spcPct val="85000"/>
              </a:lnSpc>
              <a:spcBef>
                <a:spcPct val="0"/>
              </a:spcBef>
              <a:spcAft>
                <a:spcPts val="600"/>
              </a:spcAft>
            </a:pPr>
            <a:r>
              <a:rPr lang="en-US" sz="5200" b="1" spc="-150" dirty="0">
                <a:solidFill>
                  <a:srgbClr val="C00000"/>
                </a:solidFill>
                <a:latin typeface="Calibri" panose="020F0502020204030204" pitchFamily="34" charset="0"/>
                <a:ea typeface="+mj-ea"/>
                <a:cs typeface="Calibri" panose="020F0502020204030204" pitchFamily="34" charset="0"/>
              </a:rPr>
              <a:t>Summary of Redmond’s 401(k) Plan</a:t>
            </a:r>
          </a:p>
        </p:txBody>
      </p:sp>
      <p:sp>
        <p:nvSpPr>
          <p:cNvPr id="97" name="Isosceles Triangle 96">
            <a:extLst>
              <a:ext uri="{FF2B5EF4-FFF2-40B4-BE49-F238E27FC236}">
                <a16:creationId xmlns:a16="http://schemas.microsoft.com/office/drawing/2014/main" id="{FE269D54-3286-2F45-26C5-D2262D21D6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4" name="Content Placeholder 2">
            <a:extLst>
              <a:ext uri="{FF2B5EF4-FFF2-40B4-BE49-F238E27FC236}">
                <a16:creationId xmlns:a16="http://schemas.microsoft.com/office/drawing/2014/main" id="{1410254E-3EEA-4276-AA76-A333E92FB10E}"/>
              </a:ext>
            </a:extLst>
          </p:cNvPr>
          <p:cNvSpPr txBox="1">
            <a:spLocks/>
          </p:cNvSpPr>
          <p:nvPr/>
        </p:nvSpPr>
        <p:spPr>
          <a:xfrm>
            <a:off x="1923665" y="1141711"/>
            <a:ext cx="10161972" cy="5569198"/>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646113" indent="-452438">
              <a:lnSpc>
                <a:spcPct val="100000"/>
              </a:lnSpc>
              <a:spcBef>
                <a:spcPts val="600"/>
              </a:spcBef>
              <a:spcAft>
                <a:spcPts val="600"/>
              </a:spcAft>
            </a:pPr>
            <a:r>
              <a:rPr lang="en-US" sz="3200" dirty="0"/>
              <a:t>Operated by Empower Financial Services</a:t>
            </a:r>
          </a:p>
          <a:p>
            <a:pPr marL="646113" indent="-452438">
              <a:lnSpc>
                <a:spcPct val="100000"/>
              </a:lnSpc>
              <a:spcBef>
                <a:spcPts val="600"/>
              </a:spcBef>
              <a:spcAft>
                <a:spcPts val="600"/>
              </a:spcAft>
            </a:pPr>
            <a:r>
              <a:rPr lang="en-US" sz="3200" dirty="0"/>
              <a:t>All associates are automatically enrolled after 6 months</a:t>
            </a:r>
          </a:p>
          <a:p>
            <a:pPr marL="646113" indent="-452438">
              <a:lnSpc>
                <a:spcPct val="100000"/>
              </a:lnSpc>
              <a:spcBef>
                <a:spcPts val="600"/>
              </a:spcBef>
              <a:spcAft>
                <a:spcPts val="600"/>
              </a:spcAft>
            </a:pPr>
            <a:r>
              <a:rPr lang="en-US" sz="3200" dirty="0"/>
              <a:t>Default: 4% into the ROTH option &amp; target fund</a:t>
            </a:r>
          </a:p>
          <a:p>
            <a:pPr marL="646113" indent="-452438">
              <a:lnSpc>
                <a:spcPct val="100000"/>
              </a:lnSpc>
              <a:spcBef>
                <a:spcPts val="600"/>
              </a:spcBef>
              <a:spcAft>
                <a:spcPts val="600"/>
              </a:spcAft>
            </a:pPr>
            <a:r>
              <a:rPr lang="en-US" sz="3200" dirty="0"/>
              <a:t>Automatic 1% annual increase until 8%</a:t>
            </a:r>
          </a:p>
          <a:p>
            <a:pPr marL="646113" indent="-452438">
              <a:lnSpc>
                <a:spcPct val="100000"/>
              </a:lnSpc>
              <a:spcBef>
                <a:spcPts val="600"/>
              </a:spcBef>
              <a:spcAft>
                <a:spcPts val="600"/>
              </a:spcAft>
            </a:pPr>
            <a:r>
              <a:rPr lang="en-US" sz="3200" dirty="0"/>
              <a:t>Redmond contributes about half of your contribution up to 4%</a:t>
            </a:r>
          </a:p>
          <a:p>
            <a:pPr marL="1103313" lvl="1" indent="-452438">
              <a:lnSpc>
                <a:spcPct val="100000"/>
              </a:lnSpc>
              <a:spcBef>
                <a:spcPts val="600"/>
              </a:spcBef>
              <a:spcAft>
                <a:spcPts val="600"/>
              </a:spcAft>
            </a:pPr>
            <a:r>
              <a:rPr lang="en-US" sz="3000" dirty="0"/>
              <a:t>Redmond’s contribution is to a Traditional option</a:t>
            </a:r>
          </a:p>
          <a:p>
            <a:pPr marL="1103313" lvl="1" indent="-452438">
              <a:lnSpc>
                <a:spcPct val="100000"/>
              </a:lnSpc>
              <a:spcBef>
                <a:spcPts val="600"/>
              </a:spcBef>
              <a:spcAft>
                <a:spcPts val="600"/>
              </a:spcAft>
            </a:pPr>
            <a:r>
              <a:rPr lang="en-US" sz="3000" dirty="0"/>
              <a:t>Redmond’s contribution has a vesting period</a:t>
            </a:r>
          </a:p>
          <a:p>
            <a:pPr marL="646113" indent="-452438">
              <a:lnSpc>
                <a:spcPct val="100000"/>
              </a:lnSpc>
              <a:spcBef>
                <a:spcPts val="0"/>
              </a:spcBef>
              <a:spcAft>
                <a:spcPts val="600"/>
              </a:spcAft>
            </a:pPr>
            <a:endParaRPr lang="en-US" sz="2800" dirty="0"/>
          </a:p>
        </p:txBody>
      </p:sp>
    </p:spTree>
    <p:extLst>
      <p:ext uri="{BB962C8B-B14F-4D97-AF65-F5344CB8AC3E}">
        <p14:creationId xmlns:p14="http://schemas.microsoft.com/office/powerpoint/2010/main" val="1785552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FFF05A-5141-8207-C51F-E069AA439654}"/>
            </a:ext>
          </a:extLst>
        </p:cNvPr>
        <p:cNvGrpSpPr/>
        <p:nvPr/>
      </p:nvGrpSpPr>
      <p:grpSpPr>
        <a:xfrm>
          <a:off x="0" y="0"/>
          <a:ext cx="0" cy="0"/>
          <a:chOff x="0" y="0"/>
          <a:chExt cx="0" cy="0"/>
        </a:xfrm>
      </p:grpSpPr>
      <p:grpSp>
        <p:nvGrpSpPr>
          <p:cNvPr id="42" name="Group 41">
            <a:extLst>
              <a:ext uri="{FF2B5EF4-FFF2-40B4-BE49-F238E27FC236}">
                <a16:creationId xmlns:a16="http://schemas.microsoft.com/office/drawing/2014/main" id="{83857CEC-5326-0050-C8E2-92BE5EC109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3" name="Freeform 5">
              <a:extLst>
                <a:ext uri="{FF2B5EF4-FFF2-40B4-BE49-F238E27FC236}">
                  <a16:creationId xmlns:a16="http://schemas.microsoft.com/office/drawing/2014/main" id="{AB2D41E7-6520-1862-B58B-EF213D7699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6">
              <a:extLst>
                <a:ext uri="{FF2B5EF4-FFF2-40B4-BE49-F238E27FC236}">
                  <a16:creationId xmlns:a16="http://schemas.microsoft.com/office/drawing/2014/main" id="{2EFCFFDA-A2AB-8561-67C8-E72E2994B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7">
              <a:extLst>
                <a:ext uri="{FF2B5EF4-FFF2-40B4-BE49-F238E27FC236}">
                  <a16:creationId xmlns:a16="http://schemas.microsoft.com/office/drawing/2014/main" id="{2F4D6B51-D2DB-C4CD-0F1B-7D097C39E9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8">
              <a:extLst>
                <a:ext uri="{FF2B5EF4-FFF2-40B4-BE49-F238E27FC236}">
                  <a16:creationId xmlns:a16="http://schemas.microsoft.com/office/drawing/2014/main" id="{20FF80EA-94ED-27FC-D026-117DC15B69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9">
              <a:extLst>
                <a:ext uri="{FF2B5EF4-FFF2-40B4-BE49-F238E27FC236}">
                  <a16:creationId xmlns:a16="http://schemas.microsoft.com/office/drawing/2014/main" id="{CB87543B-8478-133B-60F5-915DB1907B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0">
              <a:extLst>
                <a:ext uri="{FF2B5EF4-FFF2-40B4-BE49-F238E27FC236}">
                  <a16:creationId xmlns:a16="http://schemas.microsoft.com/office/drawing/2014/main" id="{D19F708A-18B6-59EC-381D-D46A6A15C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1">
              <a:extLst>
                <a:ext uri="{FF2B5EF4-FFF2-40B4-BE49-F238E27FC236}">
                  <a16:creationId xmlns:a16="http://schemas.microsoft.com/office/drawing/2014/main" id="{A3E019BF-A281-53DB-2BF0-ED6E15564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2">
              <a:extLst>
                <a:ext uri="{FF2B5EF4-FFF2-40B4-BE49-F238E27FC236}">
                  <a16:creationId xmlns:a16="http://schemas.microsoft.com/office/drawing/2014/main" id="{3AD4E5B4-AE99-BDE5-4F8F-DADCBBC370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3">
              <a:extLst>
                <a:ext uri="{FF2B5EF4-FFF2-40B4-BE49-F238E27FC236}">
                  <a16:creationId xmlns:a16="http://schemas.microsoft.com/office/drawing/2014/main" id="{43DEEB6F-EF1A-0539-CCF6-DC0541EA3A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4">
              <a:extLst>
                <a:ext uri="{FF2B5EF4-FFF2-40B4-BE49-F238E27FC236}">
                  <a16:creationId xmlns:a16="http://schemas.microsoft.com/office/drawing/2014/main" id="{2DD1FD34-388C-ED41-C4F0-0458033841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5">
              <a:extLst>
                <a:ext uri="{FF2B5EF4-FFF2-40B4-BE49-F238E27FC236}">
                  <a16:creationId xmlns:a16="http://schemas.microsoft.com/office/drawing/2014/main" id="{86EF6D2A-3733-E99D-5945-438B6C7B4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6">
              <a:extLst>
                <a:ext uri="{FF2B5EF4-FFF2-40B4-BE49-F238E27FC236}">
                  <a16:creationId xmlns:a16="http://schemas.microsoft.com/office/drawing/2014/main" id="{B53AC2E8-6C77-5B59-5F9D-644B97D5B2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7">
              <a:extLst>
                <a:ext uri="{FF2B5EF4-FFF2-40B4-BE49-F238E27FC236}">
                  <a16:creationId xmlns:a16="http://schemas.microsoft.com/office/drawing/2014/main" id="{0ECF9EA6-F763-73F5-4EC0-29917C27DA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8">
              <a:extLst>
                <a:ext uri="{FF2B5EF4-FFF2-40B4-BE49-F238E27FC236}">
                  <a16:creationId xmlns:a16="http://schemas.microsoft.com/office/drawing/2014/main" id="{55ABA85D-C85D-B8B6-0B8F-5DD07285E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9">
              <a:extLst>
                <a:ext uri="{FF2B5EF4-FFF2-40B4-BE49-F238E27FC236}">
                  <a16:creationId xmlns:a16="http://schemas.microsoft.com/office/drawing/2014/main" id="{A7062E4C-D4FA-5471-2A28-D40D25EEF5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0">
              <a:extLst>
                <a:ext uri="{FF2B5EF4-FFF2-40B4-BE49-F238E27FC236}">
                  <a16:creationId xmlns:a16="http://schemas.microsoft.com/office/drawing/2014/main" id="{7B5C2350-EE94-5540-B710-DCB01644EF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1">
              <a:extLst>
                <a:ext uri="{FF2B5EF4-FFF2-40B4-BE49-F238E27FC236}">
                  <a16:creationId xmlns:a16="http://schemas.microsoft.com/office/drawing/2014/main" id="{51A381E2-4231-75B7-7C0A-1845B1DD4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2">
              <a:extLst>
                <a:ext uri="{FF2B5EF4-FFF2-40B4-BE49-F238E27FC236}">
                  <a16:creationId xmlns:a16="http://schemas.microsoft.com/office/drawing/2014/main" id="{BA871FCC-11B3-978C-F9C7-79B64C63A4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3">
              <a:extLst>
                <a:ext uri="{FF2B5EF4-FFF2-40B4-BE49-F238E27FC236}">
                  <a16:creationId xmlns:a16="http://schemas.microsoft.com/office/drawing/2014/main" id="{875BE5E6-A3EC-B840-8DFF-15ADF4E494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4">
              <a:extLst>
                <a:ext uri="{FF2B5EF4-FFF2-40B4-BE49-F238E27FC236}">
                  <a16:creationId xmlns:a16="http://schemas.microsoft.com/office/drawing/2014/main" id="{3D673D04-517D-9E95-BED1-9CC32B21D2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5">
              <a:extLst>
                <a:ext uri="{FF2B5EF4-FFF2-40B4-BE49-F238E27FC236}">
                  <a16:creationId xmlns:a16="http://schemas.microsoft.com/office/drawing/2014/main" id="{D4E4BD11-170C-8EC2-4E41-9171121806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5" name="Group 64">
            <a:extLst>
              <a:ext uri="{FF2B5EF4-FFF2-40B4-BE49-F238E27FC236}">
                <a16:creationId xmlns:a16="http://schemas.microsoft.com/office/drawing/2014/main" id="{7C4DF059-5A98-F177-6DB0-BF993AB5AE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66" name="Rectangle 65">
              <a:extLst>
                <a:ext uri="{FF2B5EF4-FFF2-40B4-BE49-F238E27FC236}">
                  <a16:creationId xmlns:a16="http://schemas.microsoft.com/office/drawing/2014/main" id="{9BBD7C44-6572-61CD-9133-47BC7B1548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67" name="Isosceles Triangle 22">
              <a:extLst>
                <a:ext uri="{FF2B5EF4-FFF2-40B4-BE49-F238E27FC236}">
                  <a16:creationId xmlns:a16="http://schemas.microsoft.com/office/drawing/2014/main" id="{3B706E5F-51E2-6E34-A739-441323424F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8" name="Rectangle 67">
              <a:extLst>
                <a:ext uri="{FF2B5EF4-FFF2-40B4-BE49-F238E27FC236}">
                  <a16:creationId xmlns:a16="http://schemas.microsoft.com/office/drawing/2014/main" id="{DB5EC2A3-1B92-1EFA-E5AF-817CEB692E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70" name="Rectangle 69">
            <a:extLst>
              <a:ext uri="{FF2B5EF4-FFF2-40B4-BE49-F238E27FC236}">
                <a16:creationId xmlns:a16="http://schemas.microsoft.com/office/drawing/2014/main" id="{E65685F6-CBFC-4E8F-266A-22A053E453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71">
            <a:extLst>
              <a:ext uri="{FF2B5EF4-FFF2-40B4-BE49-F238E27FC236}">
                <a16:creationId xmlns:a16="http://schemas.microsoft.com/office/drawing/2014/main" id="{B1C8FF56-7B50-2600-D4FD-1D28BB308E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73" name="Freeform 5">
              <a:extLst>
                <a:ext uri="{FF2B5EF4-FFF2-40B4-BE49-F238E27FC236}">
                  <a16:creationId xmlns:a16="http://schemas.microsoft.com/office/drawing/2014/main" id="{EC88E7C1-CC26-7CDC-05E3-D6C2C64CC2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 name="Freeform 6">
              <a:extLst>
                <a:ext uri="{FF2B5EF4-FFF2-40B4-BE49-F238E27FC236}">
                  <a16:creationId xmlns:a16="http://schemas.microsoft.com/office/drawing/2014/main" id="{59FEFAB9-193A-A429-B961-C41A7F33E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 name="Freeform 7">
              <a:extLst>
                <a:ext uri="{FF2B5EF4-FFF2-40B4-BE49-F238E27FC236}">
                  <a16:creationId xmlns:a16="http://schemas.microsoft.com/office/drawing/2014/main" id="{04FDD96A-86BF-A231-0692-5C36AC4C78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6" name="Freeform 8">
              <a:extLst>
                <a:ext uri="{FF2B5EF4-FFF2-40B4-BE49-F238E27FC236}">
                  <a16:creationId xmlns:a16="http://schemas.microsoft.com/office/drawing/2014/main" id="{5F8E6437-ED45-470E-48BC-A4948607A4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9">
              <a:extLst>
                <a:ext uri="{FF2B5EF4-FFF2-40B4-BE49-F238E27FC236}">
                  <a16:creationId xmlns:a16="http://schemas.microsoft.com/office/drawing/2014/main" id="{2BA95CCF-7310-36C2-479B-2033736D8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10">
              <a:extLst>
                <a:ext uri="{FF2B5EF4-FFF2-40B4-BE49-F238E27FC236}">
                  <a16:creationId xmlns:a16="http://schemas.microsoft.com/office/drawing/2014/main" id="{02923ED4-3488-9ABD-BC6E-1AD1A87F22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11">
              <a:extLst>
                <a:ext uri="{FF2B5EF4-FFF2-40B4-BE49-F238E27FC236}">
                  <a16:creationId xmlns:a16="http://schemas.microsoft.com/office/drawing/2014/main" id="{2B72256B-B034-ED4F-7876-F17082429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12">
              <a:extLst>
                <a:ext uri="{FF2B5EF4-FFF2-40B4-BE49-F238E27FC236}">
                  <a16:creationId xmlns:a16="http://schemas.microsoft.com/office/drawing/2014/main" id="{0B35D129-9832-30E3-E3BA-81ACFE3D95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13">
              <a:extLst>
                <a:ext uri="{FF2B5EF4-FFF2-40B4-BE49-F238E27FC236}">
                  <a16:creationId xmlns:a16="http://schemas.microsoft.com/office/drawing/2014/main" id="{8A936E34-AF5E-2B23-7279-4FF7DC7C30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14">
              <a:extLst>
                <a:ext uri="{FF2B5EF4-FFF2-40B4-BE49-F238E27FC236}">
                  <a16:creationId xmlns:a16="http://schemas.microsoft.com/office/drawing/2014/main" id="{B61ECDA7-FED2-AA51-E3E3-765D46335C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5">
              <a:extLst>
                <a:ext uri="{FF2B5EF4-FFF2-40B4-BE49-F238E27FC236}">
                  <a16:creationId xmlns:a16="http://schemas.microsoft.com/office/drawing/2014/main" id="{12F6BA92-5A8D-2ACD-3259-B64CBBB75A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6">
              <a:extLst>
                <a:ext uri="{FF2B5EF4-FFF2-40B4-BE49-F238E27FC236}">
                  <a16:creationId xmlns:a16="http://schemas.microsoft.com/office/drawing/2014/main" id="{57EF1D1C-7987-D592-4CF7-B79940113D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7">
              <a:extLst>
                <a:ext uri="{FF2B5EF4-FFF2-40B4-BE49-F238E27FC236}">
                  <a16:creationId xmlns:a16="http://schemas.microsoft.com/office/drawing/2014/main" id="{A5220786-DC78-37E2-5B85-3156A6396A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8">
              <a:extLst>
                <a:ext uri="{FF2B5EF4-FFF2-40B4-BE49-F238E27FC236}">
                  <a16:creationId xmlns:a16="http://schemas.microsoft.com/office/drawing/2014/main" id="{B964AE74-0AA5-34DB-8244-F227CA3E26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9">
              <a:extLst>
                <a:ext uri="{FF2B5EF4-FFF2-40B4-BE49-F238E27FC236}">
                  <a16:creationId xmlns:a16="http://schemas.microsoft.com/office/drawing/2014/main" id="{F47FE1E3-805D-63E4-B38C-C04EC44894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20">
              <a:extLst>
                <a:ext uri="{FF2B5EF4-FFF2-40B4-BE49-F238E27FC236}">
                  <a16:creationId xmlns:a16="http://schemas.microsoft.com/office/drawing/2014/main" id="{C56B468A-C328-898A-9049-6F5A6A2F1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21">
              <a:extLst>
                <a:ext uri="{FF2B5EF4-FFF2-40B4-BE49-F238E27FC236}">
                  <a16:creationId xmlns:a16="http://schemas.microsoft.com/office/drawing/2014/main" id="{7634FC05-B014-E763-DF35-6C69CCB4E5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22">
              <a:extLst>
                <a:ext uri="{FF2B5EF4-FFF2-40B4-BE49-F238E27FC236}">
                  <a16:creationId xmlns:a16="http://schemas.microsoft.com/office/drawing/2014/main" id="{8A13027E-4DD3-B99B-2DCB-D36892B0BD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23">
              <a:extLst>
                <a:ext uri="{FF2B5EF4-FFF2-40B4-BE49-F238E27FC236}">
                  <a16:creationId xmlns:a16="http://schemas.microsoft.com/office/drawing/2014/main" id="{738A955E-BAA6-3556-996B-2F83E1954A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24">
              <a:extLst>
                <a:ext uri="{FF2B5EF4-FFF2-40B4-BE49-F238E27FC236}">
                  <a16:creationId xmlns:a16="http://schemas.microsoft.com/office/drawing/2014/main" id="{6CBB9B5F-98BE-E1C7-1FFB-5C83FCB05C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25">
              <a:extLst>
                <a:ext uri="{FF2B5EF4-FFF2-40B4-BE49-F238E27FC236}">
                  <a16:creationId xmlns:a16="http://schemas.microsoft.com/office/drawing/2014/main" id="{9CCC430D-12E9-AFF5-7BFC-41D70BC982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useBgFill="1">
        <p:nvSpPr>
          <p:cNvPr id="95" name="Rectangle 94">
            <a:extLst>
              <a:ext uri="{FF2B5EF4-FFF2-40B4-BE49-F238E27FC236}">
                <a16:creationId xmlns:a16="http://schemas.microsoft.com/office/drawing/2014/main" id="{360188C7-200D-AAD2-FACC-4ADCE80A22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5F28A5A-288B-5FB0-8534-4CFAA2627AC9}"/>
              </a:ext>
            </a:extLst>
          </p:cNvPr>
          <p:cNvSpPr txBox="1"/>
          <p:nvPr/>
        </p:nvSpPr>
        <p:spPr>
          <a:xfrm>
            <a:off x="2142222" y="147091"/>
            <a:ext cx="9736868" cy="1375076"/>
          </a:xfrm>
          <a:prstGeom prst="rect">
            <a:avLst/>
          </a:prstGeom>
        </p:spPr>
        <p:txBody>
          <a:bodyPr vert="horz" lIns="228600" tIns="228600" rIns="228600" bIns="228600" rtlCol="0" anchor="t">
            <a:normAutofit/>
          </a:bodyPr>
          <a:lstStyle/>
          <a:p>
            <a:pPr defTabSz="914400">
              <a:lnSpc>
                <a:spcPct val="85000"/>
              </a:lnSpc>
              <a:spcBef>
                <a:spcPct val="0"/>
              </a:spcBef>
              <a:spcAft>
                <a:spcPts val="600"/>
              </a:spcAft>
            </a:pPr>
            <a:r>
              <a:rPr lang="en-US" sz="5200" b="1" spc="-150" dirty="0">
                <a:solidFill>
                  <a:srgbClr val="C00000"/>
                </a:solidFill>
                <a:latin typeface="Calibri" panose="020F0502020204030204" pitchFamily="34" charset="0"/>
                <a:ea typeface="+mj-ea"/>
                <a:cs typeface="Calibri" panose="020F0502020204030204" pitchFamily="34" charset="0"/>
              </a:rPr>
              <a:t>(Summary continued)</a:t>
            </a:r>
          </a:p>
        </p:txBody>
      </p:sp>
      <p:sp>
        <p:nvSpPr>
          <p:cNvPr id="97" name="Isosceles Triangle 96">
            <a:extLst>
              <a:ext uri="{FF2B5EF4-FFF2-40B4-BE49-F238E27FC236}">
                <a16:creationId xmlns:a16="http://schemas.microsoft.com/office/drawing/2014/main" id="{559415FB-3D62-5A9F-2C67-C2C5654B2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4" name="Content Placeholder 2">
            <a:extLst>
              <a:ext uri="{FF2B5EF4-FFF2-40B4-BE49-F238E27FC236}">
                <a16:creationId xmlns:a16="http://schemas.microsoft.com/office/drawing/2014/main" id="{EF3A7316-BEE8-456F-69DA-7CD17D3E2F2D}"/>
              </a:ext>
            </a:extLst>
          </p:cNvPr>
          <p:cNvSpPr txBox="1">
            <a:spLocks/>
          </p:cNvSpPr>
          <p:nvPr/>
        </p:nvSpPr>
        <p:spPr>
          <a:xfrm>
            <a:off x="1923665" y="1141711"/>
            <a:ext cx="10052435" cy="5569198"/>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646113" indent="-452438">
              <a:lnSpc>
                <a:spcPct val="100000"/>
              </a:lnSpc>
              <a:spcBef>
                <a:spcPts val="600"/>
              </a:spcBef>
              <a:spcAft>
                <a:spcPts val="600"/>
              </a:spcAft>
            </a:pPr>
            <a:r>
              <a:rPr lang="en-US" sz="3200" dirty="0"/>
              <a:t>Contributions don’t start for 6 months, but you can register and log in within one month of your start date</a:t>
            </a:r>
          </a:p>
          <a:p>
            <a:pPr marL="646113" indent="-452438">
              <a:lnSpc>
                <a:spcPct val="100000"/>
              </a:lnSpc>
              <a:spcBef>
                <a:spcPts val="600"/>
              </a:spcBef>
              <a:spcAft>
                <a:spcPts val="600"/>
              </a:spcAft>
            </a:pPr>
            <a:r>
              <a:rPr lang="en-US" sz="3200" dirty="0"/>
              <a:t>You can consolidate (rollover) a 401(k) from a previous employer into your Redmond 401(k) after you register your account </a:t>
            </a:r>
          </a:p>
          <a:p>
            <a:pPr marL="646113" indent="-452438">
              <a:lnSpc>
                <a:spcPct val="100000"/>
              </a:lnSpc>
              <a:spcBef>
                <a:spcPts val="600"/>
              </a:spcBef>
              <a:spcAft>
                <a:spcPts val="600"/>
              </a:spcAft>
            </a:pPr>
            <a:r>
              <a:rPr lang="en-US" sz="3200" dirty="0"/>
              <a:t>You can change the defaults after you register and before contributions start</a:t>
            </a:r>
          </a:p>
          <a:p>
            <a:pPr marL="646113" indent="-452438">
              <a:lnSpc>
                <a:spcPct val="100000"/>
              </a:lnSpc>
              <a:spcBef>
                <a:spcPts val="0"/>
              </a:spcBef>
              <a:spcAft>
                <a:spcPts val="600"/>
              </a:spcAft>
            </a:pPr>
            <a:endParaRPr lang="en-US" sz="2800" dirty="0"/>
          </a:p>
        </p:txBody>
      </p:sp>
    </p:spTree>
    <p:extLst>
      <p:ext uri="{BB962C8B-B14F-4D97-AF65-F5344CB8AC3E}">
        <p14:creationId xmlns:p14="http://schemas.microsoft.com/office/powerpoint/2010/main" val="1784742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CF2F52-B898-A4EE-C758-C4972F790A22}"/>
            </a:ext>
          </a:extLst>
        </p:cNvPr>
        <p:cNvGrpSpPr/>
        <p:nvPr/>
      </p:nvGrpSpPr>
      <p:grpSpPr>
        <a:xfrm>
          <a:off x="0" y="0"/>
          <a:ext cx="0" cy="0"/>
          <a:chOff x="0" y="0"/>
          <a:chExt cx="0" cy="0"/>
        </a:xfrm>
      </p:grpSpPr>
      <p:grpSp>
        <p:nvGrpSpPr>
          <p:cNvPr id="42" name="Group 41">
            <a:extLst>
              <a:ext uri="{FF2B5EF4-FFF2-40B4-BE49-F238E27FC236}">
                <a16:creationId xmlns:a16="http://schemas.microsoft.com/office/drawing/2014/main" id="{212D6D05-3686-253F-6533-CA91B60D75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3" name="Freeform 5">
              <a:extLst>
                <a:ext uri="{FF2B5EF4-FFF2-40B4-BE49-F238E27FC236}">
                  <a16:creationId xmlns:a16="http://schemas.microsoft.com/office/drawing/2014/main" id="{FA9B0DE1-47D2-709B-F5CC-C1256FE9F4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6">
              <a:extLst>
                <a:ext uri="{FF2B5EF4-FFF2-40B4-BE49-F238E27FC236}">
                  <a16:creationId xmlns:a16="http://schemas.microsoft.com/office/drawing/2014/main" id="{FD0601E6-73BC-BF6F-10B3-A84143E75F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7">
              <a:extLst>
                <a:ext uri="{FF2B5EF4-FFF2-40B4-BE49-F238E27FC236}">
                  <a16:creationId xmlns:a16="http://schemas.microsoft.com/office/drawing/2014/main" id="{0E884312-97B7-E774-E238-1930292E9E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8">
              <a:extLst>
                <a:ext uri="{FF2B5EF4-FFF2-40B4-BE49-F238E27FC236}">
                  <a16:creationId xmlns:a16="http://schemas.microsoft.com/office/drawing/2014/main" id="{CCA89B45-1E72-0743-E8D6-98B92A159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9">
              <a:extLst>
                <a:ext uri="{FF2B5EF4-FFF2-40B4-BE49-F238E27FC236}">
                  <a16:creationId xmlns:a16="http://schemas.microsoft.com/office/drawing/2014/main" id="{0C300382-4F70-F25E-C1DB-1A7C978D9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0">
              <a:extLst>
                <a:ext uri="{FF2B5EF4-FFF2-40B4-BE49-F238E27FC236}">
                  <a16:creationId xmlns:a16="http://schemas.microsoft.com/office/drawing/2014/main" id="{522BC00C-5B19-159F-602D-2D765004B1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1">
              <a:extLst>
                <a:ext uri="{FF2B5EF4-FFF2-40B4-BE49-F238E27FC236}">
                  <a16:creationId xmlns:a16="http://schemas.microsoft.com/office/drawing/2014/main" id="{18A996EA-278C-6BFF-307C-69629C0B23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2">
              <a:extLst>
                <a:ext uri="{FF2B5EF4-FFF2-40B4-BE49-F238E27FC236}">
                  <a16:creationId xmlns:a16="http://schemas.microsoft.com/office/drawing/2014/main" id="{06494406-5F99-F521-763C-250BBFF373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3">
              <a:extLst>
                <a:ext uri="{FF2B5EF4-FFF2-40B4-BE49-F238E27FC236}">
                  <a16:creationId xmlns:a16="http://schemas.microsoft.com/office/drawing/2014/main" id="{2DA8A024-5903-8CA3-84C9-5CA9BA4F7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4">
              <a:extLst>
                <a:ext uri="{FF2B5EF4-FFF2-40B4-BE49-F238E27FC236}">
                  <a16:creationId xmlns:a16="http://schemas.microsoft.com/office/drawing/2014/main" id="{724E4A73-70B0-9599-923C-6DD8D3410F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5">
              <a:extLst>
                <a:ext uri="{FF2B5EF4-FFF2-40B4-BE49-F238E27FC236}">
                  <a16:creationId xmlns:a16="http://schemas.microsoft.com/office/drawing/2014/main" id="{7615135C-D7B9-D01E-7FFF-ABEE417482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6">
              <a:extLst>
                <a:ext uri="{FF2B5EF4-FFF2-40B4-BE49-F238E27FC236}">
                  <a16:creationId xmlns:a16="http://schemas.microsoft.com/office/drawing/2014/main" id="{51473877-AE02-2D30-1A82-58CEF49241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7">
              <a:extLst>
                <a:ext uri="{FF2B5EF4-FFF2-40B4-BE49-F238E27FC236}">
                  <a16:creationId xmlns:a16="http://schemas.microsoft.com/office/drawing/2014/main" id="{782A387A-E760-E762-F4B3-0896825702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8">
              <a:extLst>
                <a:ext uri="{FF2B5EF4-FFF2-40B4-BE49-F238E27FC236}">
                  <a16:creationId xmlns:a16="http://schemas.microsoft.com/office/drawing/2014/main" id="{A55184C9-9735-FABB-84EE-E22F6AD996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9">
              <a:extLst>
                <a:ext uri="{FF2B5EF4-FFF2-40B4-BE49-F238E27FC236}">
                  <a16:creationId xmlns:a16="http://schemas.microsoft.com/office/drawing/2014/main" id="{1776F3E8-B5BA-0A79-5217-A6F2EFA778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0">
              <a:extLst>
                <a:ext uri="{FF2B5EF4-FFF2-40B4-BE49-F238E27FC236}">
                  <a16:creationId xmlns:a16="http://schemas.microsoft.com/office/drawing/2014/main" id="{733DEBC5-6BED-3CB1-9E1E-693A490AB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1">
              <a:extLst>
                <a:ext uri="{FF2B5EF4-FFF2-40B4-BE49-F238E27FC236}">
                  <a16:creationId xmlns:a16="http://schemas.microsoft.com/office/drawing/2014/main" id="{CECCC5A6-913B-CC5C-0671-54A43C59D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2">
              <a:extLst>
                <a:ext uri="{FF2B5EF4-FFF2-40B4-BE49-F238E27FC236}">
                  <a16:creationId xmlns:a16="http://schemas.microsoft.com/office/drawing/2014/main" id="{F96C23C7-1F61-A090-9D1F-879149A162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3">
              <a:extLst>
                <a:ext uri="{FF2B5EF4-FFF2-40B4-BE49-F238E27FC236}">
                  <a16:creationId xmlns:a16="http://schemas.microsoft.com/office/drawing/2014/main" id="{3DB5A619-2245-FF21-0703-4C20E71C86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4">
              <a:extLst>
                <a:ext uri="{FF2B5EF4-FFF2-40B4-BE49-F238E27FC236}">
                  <a16:creationId xmlns:a16="http://schemas.microsoft.com/office/drawing/2014/main" id="{7A576FA3-F96B-3C74-B7AB-F1318F861B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5">
              <a:extLst>
                <a:ext uri="{FF2B5EF4-FFF2-40B4-BE49-F238E27FC236}">
                  <a16:creationId xmlns:a16="http://schemas.microsoft.com/office/drawing/2014/main" id="{6C447A09-6293-5F3A-5241-61FB4EF0CB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5" name="Group 64">
            <a:extLst>
              <a:ext uri="{FF2B5EF4-FFF2-40B4-BE49-F238E27FC236}">
                <a16:creationId xmlns:a16="http://schemas.microsoft.com/office/drawing/2014/main" id="{23A0F90D-4EB9-D511-CA67-A21B804128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66" name="Rectangle 65">
              <a:extLst>
                <a:ext uri="{FF2B5EF4-FFF2-40B4-BE49-F238E27FC236}">
                  <a16:creationId xmlns:a16="http://schemas.microsoft.com/office/drawing/2014/main" id="{448EDACE-885A-D2DE-7AD7-20C169C94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67" name="Isosceles Triangle 22">
              <a:extLst>
                <a:ext uri="{FF2B5EF4-FFF2-40B4-BE49-F238E27FC236}">
                  <a16:creationId xmlns:a16="http://schemas.microsoft.com/office/drawing/2014/main" id="{ED5B0936-92F2-4645-29AA-AB5C7641EB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8" name="Rectangle 67">
              <a:extLst>
                <a:ext uri="{FF2B5EF4-FFF2-40B4-BE49-F238E27FC236}">
                  <a16:creationId xmlns:a16="http://schemas.microsoft.com/office/drawing/2014/main" id="{88345022-0F07-A0D2-D11C-E611540077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70" name="Rectangle 69">
            <a:extLst>
              <a:ext uri="{FF2B5EF4-FFF2-40B4-BE49-F238E27FC236}">
                <a16:creationId xmlns:a16="http://schemas.microsoft.com/office/drawing/2014/main" id="{5931DE47-DB08-F941-D7DF-B24BD04812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71">
            <a:extLst>
              <a:ext uri="{FF2B5EF4-FFF2-40B4-BE49-F238E27FC236}">
                <a16:creationId xmlns:a16="http://schemas.microsoft.com/office/drawing/2014/main" id="{DA869EF2-DFFF-9BC1-6491-C47342B7ED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73" name="Freeform 5">
              <a:extLst>
                <a:ext uri="{FF2B5EF4-FFF2-40B4-BE49-F238E27FC236}">
                  <a16:creationId xmlns:a16="http://schemas.microsoft.com/office/drawing/2014/main" id="{B9C286AB-8352-8472-38E7-C6C351B3D8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 name="Freeform 6">
              <a:extLst>
                <a:ext uri="{FF2B5EF4-FFF2-40B4-BE49-F238E27FC236}">
                  <a16:creationId xmlns:a16="http://schemas.microsoft.com/office/drawing/2014/main" id="{D43CD47A-83C6-790E-D726-EEEE5EAD73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 name="Freeform 7">
              <a:extLst>
                <a:ext uri="{FF2B5EF4-FFF2-40B4-BE49-F238E27FC236}">
                  <a16:creationId xmlns:a16="http://schemas.microsoft.com/office/drawing/2014/main" id="{575A503F-0D68-6A94-EC7B-6D4C40E365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6" name="Freeform 8">
              <a:extLst>
                <a:ext uri="{FF2B5EF4-FFF2-40B4-BE49-F238E27FC236}">
                  <a16:creationId xmlns:a16="http://schemas.microsoft.com/office/drawing/2014/main" id="{9B9F97C6-8C15-9E2E-AB8E-8599B54C72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9">
              <a:extLst>
                <a:ext uri="{FF2B5EF4-FFF2-40B4-BE49-F238E27FC236}">
                  <a16:creationId xmlns:a16="http://schemas.microsoft.com/office/drawing/2014/main" id="{E5AEA29B-0EA7-1A65-F404-417F91618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10">
              <a:extLst>
                <a:ext uri="{FF2B5EF4-FFF2-40B4-BE49-F238E27FC236}">
                  <a16:creationId xmlns:a16="http://schemas.microsoft.com/office/drawing/2014/main" id="{1FB74086-CC50-DEAB-3930-73052312F4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11">
              <a:extLst>
                <a:ext uri="{FF2B5EF4-FFF2-40B4-BE49-F238E27FC236}">
                  <a16:creationId xmlns:a16="http://schemas.microsoft.com/office/drawing/2014/main" id="{FD543432-67D0-8C79-1E05-1F1A5B2C21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12">
              <a:extLst>
                <a:ext uri="{FF2B5EF4-FFF2-40B4-BE49-F238E27FC236}">
                  <a16:creationId xmlns:a16="http://schemas.microsoft.com/office/drawing/2014/main" id="{E312967F-92A5-6030-B5DC-A0C2D8A26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13">
              <a:extLst>
                <a:ext uri="{FF2B5EF4-FFF2-40B4-BE49-F238E27FC236}">
                  <a16:creationId xmlns:a16="http://schemas.microsoft.com/office/drawing/2014/main" id="{D271C502-002B-8E86-AC09-2B056EA5C7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14">
              <a:extLst>
                <a:ext uri="{FF2B5EF4-FFF2-40B4-BE49-F238E27FC236}">
                  <a16:creationId xmlns:a16="http://schemas.microsoft.com/office/drawing/2014/main" id="{75D3FC26-A90D-4D7F-469F-E1088DD46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5">
              <a:extLst>
                <a:ext uri="{FF2B5EF4-FFF2-40B4-BE49-F238E27FC236}">
                  <a16:creationId xmlns:a16="http://schemas.microsoft.com/office/drawing/2014/main" id="{BBC42CB6-0463-FFDC-7020-3836F7EC3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6">
              <a:extLst>
                <a:ext uri="{FF2B5EF4-FFF2-40B4-BE49-F238E27FC236}">
                  <a16:creationId xmlns:a16="http://schemas.microsoft.com/office/drawing/2014/main" id="{7BFD3AB8-E6B6-9BC6-80B7-60BCB9021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7">
              <a:extLst>
                <a:ext uri="{FF2B5EF4-FFF2-40B4-BE49-F238E27FC236}">
                  <a16:creationId xmlns:a16="http://schemas.microsoft.com/office/drawing/2014/main" id="{F856A3E9-C6B6-6EF1-124D-54BB4065D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8">
              <a:extLst>
                <a:ext uri="{FF2B5EF4-FFF2-40B4-BE49-F238E27FC236}">
                  <a16:creationId xmlns:a16="http://schemas.microsoft.com/office/drawing/2014/main" id="{638D073A-5472-661C-B12F-C078360829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9">
              <a:extLst>
                <a:ext uri="{FF2B5EF4-FFF2-40B4-BE49-F238E27FC236}">
                  <a16:creationId xmlns:a16="http://schemas.microsoft.com/office/drawing/2014/main" id="{40C6B9C1-FC7A-D6AD-CCD1-A7666A1AD5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20">
              <a:extLst>
                <a:ext uri="{FF2B5EF4-FFF2-40B4-BE49-F238E27FC236}">
                  <a16:creationId xmlns:a16="http://schemas.microsoft.com/office/drawing/2014/main" id="{CB58F26F-BF93-1154-2CE6-36CC9929B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21">
              <a:extLst>
                <a:ext uri="{FF2B5EF4-FFF2-40B4-BE49-F238E27FC236}">
                  <a16:creationId xmlns:a16="http://schemas.microsoft.com/office/drawing/2014/main" id="{63FAA5E1-050A-98E1-CC30-16F0B107B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22">
              <a:extLst>
                <a:ext uri="{FF2B5EF4-FFF2-40B4-BE49-F238E27FC236}">
                  <a16:creationId xmlns:a16="http://schemas.microsoft.com/office/drawing/2014/main" id="{658F6BD6-7092-2188-7AAD-891D37E76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23">
              <a:extLst>
                <a:ext uri="{FF2B5EF4-FFF2-40B4-BE49-F238E27FC236}">
                  <a16:creationId xmlns:a16="http://schemas.microsoft.com/office/drawing/2014/main" id="{A9236EC3-072B-3B2C-7413-08C1275997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24">
              <a:extLst>
                <a:ext uri="{FF2B5EF4-FFF2-40B4-BE49-F238E27FC236}">
                  <a16:creationId xmlns:a16="http://schemas.microsoft.com/office/drawing/2014/main" id="{0A14A27E-17A9-4E5C-291F-2649E256C1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25">
              <a:extLst>
                <a:ext uri="{FF2B5EF4-FFF2-40B4-BE49-F238E27FC236}">
                  <a16:creationId xmlns:a16="http://schemas.microsoft.com/office/drawing/2014/main" id="{471869FF-78B5-9AB8-1C52-DE38A8298B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useBgFill="1">
        <p:nvSpPr>
          <p:cNvPr id="95" name="Rectangle 94">
            <a:extLst>
              <a:ext uri="{FF2B5EF4-FFF2-40B4-BE49-F238E27FC236}">
                <a16:creationId xmlns:a16="http://schemas.microsoft.com/office/drawing/2014/main" id="{D15DAB7F-1931-9705-DA12-67010156EB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D4FF419-CD5A-F758-5164-532C41480F0C}"/>
              </a:ext>
            </a:extLst>
          </p:cNvPr>
          <p:cNvSpPr txBox="1"/>
          <p:nvPr/>
        </p:nvSpPr>
        <p:spPr>
          <a:xfrm>
            <a:off x="2142222" y="147091"/>
            <a:ext cx="9736868" cy="1375076"/>
          </a:xfrm>
          <a:prstGeom prst="rect">
            <a:avLst/>
          </a:prstGeom>
        </p:spPr>
        <p:txBody>
          <a:bodyPr vert="horz" lIns="228600" tIns="228600" rIns="228600" bIns="228600" rtlCol="0" anchor="t">
            <a:normAutofit/>
          </a:bodyPr>
          <a:lstStyle/>
          <a:p>
            <a:pPr defTabSz="914400">
              <a:lnSpc>
                <a:spcPct val="85000"/>
              </a:lnSpc>
              <a:spcBef>
                <a:spcPct val="0"/>
              </a:spcBef>
              <a:spcAft>
                <a:spcPts val="600"/>
              </a:spcAft>
            </a:pPr>
            <a:r>
              <a:rPr lang="en-US" sz="5200" b="1" spc="-150" dirty="0">
                <a:solidFill>
                  <a:srgbClr val="C00000"/>
                </a:solidFill>
                <a:latin typeface="Calibri" panose="020F0502020204030204" pitchFamily="34" charset="0"/>
                <a:ea typeface="+mj-ea"/>
                <a:cs typeface="Calibri" panose="020F0502020204030204" pitchFamily="34" charset="0"/>
              </a:rPr>
              <a:t>Say “Yes!” To Free Money</a:t>
            </a:r>
          </a:p>
        </p:txBody>
      </p:sp>
      <p:sp>
        <p:nvSpPr>
          <p:cNvPr id="97" name="Isosceles Triangle 96">
            <a:extLst>
              <a:ext uri="{FF2B5EF4-FFF2-40B4-BE49-F238E27FC236}">
                <a16:creationId xmlns:a16="http://schemas.microsoft.com/office/drawing/2014/main" id="{097667B0-1ACA-CAD5-A15C-D62DFE42C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4" name="Content Placeholder 2">
            <a:extLst>
              <a:ext uri="{FF2B5EF4-FFF2-40B4-BE49-F238E27FC236}">
                <a16:creationId xmlns:a16="http://schemas.microsoft.com/office/drawing/2014/main" id="{4967770C-8308-4851-C60B-ED89E33D26FE}"/>
              </a:ext>
            </a:extLst>
          </p:cNvPr>
          <p:cNvSpPr txBox="1">
            <a:spLocks/>
          </p:cNvSpPr>
          <p:nvPr/>
        </p:nvSpPr>
        <p:spPr>
          <a:xfrm>
            <a:off x="1923665" y="1141711"/>
            <a:ext cx="10052435" cy="5569198"/>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646113" indent="-452438">
              <a:lnSpc>
                <a:spcPct val="100000"/>
              </a:lnSpc>
              <a:spcBef>
                <a:spcPts val="600"/>
              </a:spcBef>
              <a:spcAft>
                <a:spcPts val="600"/>
              </a:spcAft>
            </a:pPr>
            <a:r>
              <a:rPr lang="en-US" sz="3200" dirty="0"/>
              <a:t>If you’re not contributing at least 8% of your paycheck, you’re saying no to money that Redmond wants to give you.</a:t>
            </a:r>
          </a:p>
          <a:p>
            <a:pPr marL="646113" indent="-452438">
              <a:lnSpc>
                <a:spcPct val="100000"/>
              </a:lnSpc>
              <a:spcBef>
                <a:spcPts val="600"/>
              </a:spcBef>
              <a:spcAft>
                <a:spcPts val="600"/>
              </a:spcAft>
            </a:pPr>
            <a:r>
              <a:rPr lang="en-US" sz="3200" dirty="0"/>
              <a:t>Redmond contributes about half of what you contribute up to 4%</a:t>
            </a:r>
          </a:p>
          <a:p>
            <a:pPr marL="646113" indent="-452438">
              <a:lnSpc>
                <a:spcPct val="100000"/>
              </a:lnSpc>
              <a:spcBef>
                <a:spcPts val="600"/>
              </a:spcBef>
              <a:spcAft>
                <a:spcPts val="600"/>
              </a:spcAft>
            </a:pPr>
            <a:r>
              <a:rPr lang="en-US" sz="3200" dirty="0"/>
              <a:t>If you only contribute 4%, Redmond will contribute 2.5%</a:t>
            </a:r>
          </a:p>
          <a:p>
            <a:pPr marL="646113" indent="-452438">
              <a:lnSpc>
                <a:spcPct val="100000"/>
              </a:lnSpc>
              <a:spcBef>
                <a:spcPts val="600"/>
              </a:spcBef>
              <a:spcAft>
                <a:spcPts val="600"/>
              </a:spcAft>
            </a:pPr>
            <a:r>
              <a:rPr lang="en-US" sz="3200" dirty="0"/>
              <a:t>If you contribute 8% or more, Redmond will contribute 4%</a:t>
            </a:r>
          </a:p>
          <a:p>
            <a:pPr marL="646113" indent="-452438">
              <a:lnSpc>
                <a:spcPct val="100000"/>
              </a:lnSpc>
              <a:spcBef>
                <a:spcPts val="0"/>
              </a:spcBef>
              <a:spcAft>
                <a:spcPts val="600"/>
              </a:spcAft>
            </a:pPr>
            <a:endParaRPr lang="en-US" sz="2800" dirty="0"/>
          </a:p>
        </p:txBody>
      </p:sp>
    </p:spTree>
    <p:extLst>
      <p:ext uri="{BB962C8B-B14F-4D97-AF65-F5344CB8AC3E}">
        <p14:creationId xmlns:p14="http://schemas.microsoft.com/office/powerpoint/2010/main" val="596692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0D8B65-7F7B-0469-CDD7-B88B9D3F83E9}"/>
            </a:ext>
          </a:extLst>
        </p:cNvPr>
        <p:cNvGrpSpPr/>
        <p:nvPr/>
      </p:nvGrpSpPr>
      <p:grpSpPr>
        <a:xfrm>
          <a:off x="0" y="0"/>
          <a:ext cx="0" cy="0"/>
          <a:chOff x="0" y="0"/>
          <a:chExt cx="0" cy="0"/>
        </a:xfrm>
      </p:grpSpPr>
      <p:grpSp>
        <p:nvGrpSpPr>
          <p:cNvPr id="42" name="Group 41">
            <a:extLst>
              <a:ext uri="{FF2B5EF4-FFF2-40B4-BE49-F238E27FC236}">
                <a16:creationId xmlns:a16="http://schemas.microsoft.com/office/drawing/2014/main" id="{F5351BA2-79EB-C6B0-DC64-079775F8A7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3" name="Freeform 5">
              <a:extLst>
                <a:ext uri="{FF2B5EF4-FFF2-40B4-BE49-F238E27FC236}">
                  <a16:creationId xmlns:a16="http://schemas.microsoft.com/office/drawing/2014/main" id="{C02D87AD-807A-FFAA-B476-0995580D8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6">
              <a:extLst>
                <a:ext uri="{FF2B5EF4-FFF2-40B4-BE49-F238E27FC236}">
                  <a16:creationId xmlns:a16="http://schemas.microsoft.com/office/drawing/2014/main" id="{38B45208-C3F9-C209-E4C4-8C7361428F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7">
              <a:extLst>
                <a:ext uri="{FF2B5EF4-FFF2-40B4-BE49-F238E27FC236}">
                  <a16:creationId xmlns:a16="http://schemas.microsoft.com/office/drawing/2014/main" id="{BEAA6A3E-30A4-1BB8-997B-F537741D4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8">
              <a:extLst>
                <a:ext uri="{FF2B5EF4-FFF2-40B4-BE49-F238E27FC236}">
                  <a16:creationId xmlns:a16="http://schemas.microsoft.com/office/drawing/2014/main" id="{5DA868D4-A74C-5A1C-4AF8-E79DBFDCD2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9">
              <a:extLst>
                <a:ext uri="{FF2B5EF4-FFF2-40B4-BE49-F238E27FC236}">
                  <a16:creationId xmlns:a16="http://schemas.microsoft.com/office/drawing/2014/main" id="{72DD1383-1024-9B30-7004-CB10EBE175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0">
              <a:extLst>
                <a:ext uri="{FF2B5EF4-FFF2-40B4-BE49-F238E27FC236}">
                  <a16:creationId xmlns:a16="http://schemas.microsoft.com/office/drawing/2014/main" id="{712F92F0-3FC1-9124-A710-4964A04DD1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1">
              <a:extLst>
                <a:ext uri="{FF2B5EF4-FFF2-40B4-BE49-F238E27FC236}">
                  <a16:creationId xmlns:a16="http://schemas.microsoft.com/office/drawing/2014/main" id="{5688614C-C9B4-64AA-AE3B-09E9BE285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2">
              <a:extLst>
                <a:ext uri="{FF2B5EF4-FFF2-40B4-BE49-F238E27FC236}">
                  <a16:creationId xmlns:a16="http://schemas.microsoft.com/office/drawing/2014/main" id="{43D90B41-2B6A-7711-1E3B-EDF8BE32EF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3">
              <a:extLst>
                <a:ext uri="{FF2B5EF4-FFF2-40B4-BE49-F238E27FC236}">
                  <a16:creationId xmlns:a16="http://schemas.microsoft.com/office/drawing/2014/main" id="{4F18B026-7760-937D-D3C0-0BACC41DE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4">
              <a:extLst>
                <a:ext uri="{FF2B5EF4-FFF2-40B4-BE49-F238E27FC236}">
                  <a16:creationId xmlns:a16="http://schemas.microsoft.com/office/drawing/2014/main" id="{B5D6762E-9EA1-E977-A817-DA6E121B3D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5">
              <a:extLst>
                <a:ext uri="{FF2B5EF4-FFF2-40B4-BE49-F238E27FC236}">
                  <a16:creationId xmlns:a16="http://schemas.microsoft.com/office/drawing/2014/main" id="{AFD373F1-1034-706A-E4E3-E882AE0C0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6">
              <a:extLst>
                <a:ext uri="{FF2B5EF4-FFF2-40B4-BE49-F238E27FC236}">
                  <a16:creationId xmlns:a16="http://schemas.microsoft.com/office/drawing/2014/main" id="{63D1CA3B-3DAD-1A73-7284-0DB8D2D8AB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7">
              <a:extLst>
                <a:ext uri="{FF2B5EF4-FFF2-40B4-BE49-F238E27FC236}">
                  <a16:creationId xmlns:a16="http://schemas.microsoft.com/office/drawing/2014/main" id="{1459C087-3C6E-E115-D8EA-B36E4EF60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8">
              <a:extLst>
                <a:ext uri="{FF2B5EF4-FFF2-40B4-BE49-F238E27FC236}">
                  <a16:creationId xmlns:a16="http://schemas.microsoft.com/office/drawing/2014/main" id="{4A1D6247-7CAE-A34F-3A00-F3C9B4E6E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9">
              <a:extLst>
                <a:ext uri="{FF2B5EF4-FFF2-40B4-BE49-F238E27FC236}">
                  <a16:creationId xmlns:a16="http://schemas.microsoft.com/office/drawing/2014/main" id="{9843A8F8-CA80-9747-5282-E155C51716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0">
              <a:extLst>
                <a:ext uri="{FF2B5EF4-FFF2-40B4-BE49-F238E27FC236}">
                  <a16:creationId xmlns:a16="http://schemas.microsoft.com/office/drawing/2014/main" id="{3E3EF04E-1246-66FD-B54D-826B80AC7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1">
              <a:extLst>
                <a:ext uri="{FF2B5EF4-FFF2-40B4-BE49-F238E27FC236}">
                  <a16:creationId xmlns:a16="http://schemas.microsoft.com/office/drawing/2014/main" id="{DE361406-0D6B-2EB8-F3EC-321144D08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2">
              <a:extLst>
                <a:ext uri="{FF2B5EF4-FFF2-40B4-BE49-F238E27FC236}">
                  <a16:creationId xmlns:a16="http://schemas.microsoft.com/office/drawing/2014/main" id="{2D5D8BA6-D6BB-6E06-036B-2B990E2428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3">
              <a:extLst>
                <a:ext uri="{FF2B5EF4-FFF2-40B4-BE49-F238E27FC236}">
                  <a16:creationId xmlns:a16="http://schemas.microsoft.com/office/drawing/2014/main" id="{92CED339-E8BC-E714-18A2-071A6CC3B5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4">
              <a:extLst>
                <a:ext uri="{FF2B5EF4-FFF2-40B4-BE49-F238E27FC236}">
                  <a16:creationId xmlns:a16="http://schemas.microsoft.com/office/drawing/2014/main" id="{6EFF649D-44CA-8CD1-C71D-A6498A7198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5">
              <a:extLst>
                <a:ext uri="{FF2B5EF4-FFF2-40B4-BE49-F238E27FC236}">
                  <a16:creationId xmlns:a16="http://schemas.microsoft.com/office/drawing/2014/main" id="{E5ED5285-096B-24EA-D9FB-F99877ADEA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5" name="Group 64">
            <a:extLst>
              <a:ext uri="{FF2B5EF4-FFF2-40B4-BE49-F238E27FC236}">
                <a16:creationId xmlns:a16="http://schemas.microsoft.com/office/drawing/2014/main" id="{E7720960-735A-8A8A-F818-A18C55F05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66" name="Rectangle 65">
              <a:extLst>
                <a:ext uri="{FF2B5EF4-FFF2-40B4-BE49-F238E27FC236}">
                  <a16:creationId xmlns:a16="http://schemas.microsoft.com/office/drawing/2014/main" id="{31F929E1-763F-3A5C-0943-11FFB451A2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67" name="Isosceles Triangle 22">
              <a:extLst>
                <a:ext uri="{FF2B5EF4-FFF2-40B4-BE49-F238E27FC236}">
                  <a16:creationId xmlns:a16="http://schemas.microsoft.com/office/drawing/2014/main" id="{97F815F2-2710-0E25-782E-26B93FC42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8" name="Rectangle 67">
              <a:extLst>
                <a:ext uri="{FF2B5EF4-FFF2-40B4-BE49-F238E27FC236}">
                  <a16:creationId xmlns:a16="http://schemas.microsoft.com/office/drawing/2014/main" id="{B3EE57D4-4BBA-FBBB-DC28-6A0D55972F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70" name="Rectangle 69">
            <a:extLst>
              <a:ext uri="{FF2B5EF4-FFF2-40B4-BE49-F238E27FC236}">
                <a16:creationId xmlns:a16="http://schemas.microsoft.com/office/drawing/2014/main" id="{57AE54EE-9E05-BB09-B6E2-EB57A03EB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71">
            <a:extLst>
              <a:ext uri="{FF2B5EF4-FFF2-40B4-BE49-F238E27FC236}">
                <a16:creationId xmlns:a16="http://schemas.microsoft.com/office/drawing/2014/main" id="{2760292E-BFA1-2E1C-081D-937480E5FD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73" name="Freeform 5">
              <a:extLst>
                <a:ext uri="{FF2B5EF4-FFF2-40B4-BE49-F238E27FC236}">
                  <a16:creationId xmlns:a16="http://schemas.microsoft.com/office/drawing/2014/main" id="{4E10AB0A-24F3-2842-4B31-F45932169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 name="Freeform 6">
              <a:extLst>
                <a:ext uri="{FF2B5EF4-FFF2-40B4-BE49-F238E27FC236}">
                  <a16:creationId xmlns:a16="http://schemas.microsoft.com/office/drawing/2014/main" id="{826CACDE-A73A-2A64-4171-0ADBA2E8E4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 name="Freeform 7">
              <a:extLst>
                <a:ext uri="{FF2B5EF4-FFF2-40B4-BE49-F238E27FC236}">
                  <a16:creationId xmlns:a16="http://schemas.microsoft.com/office/drawing/2014/main" id="{D2CF4C59-65DA-7BF6-28B5-EF5FAAF07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6" name="Freeform 8">
              <a:extLst>
                <a:ext uri="{FF2B5EF4-FFF2-40B4-BE49-F238E27FC236}">
                  <a16:creationId xmlns:a16="http://schemas.microsoft.com/office/drawing/2014/main" id="{14DF78BD-281A-52F7-727B-BAD215F36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9">
              <a:extLst>
                <a:ext uri="{FF2B5EF4-FFF2-40B4-BE49-F238E27FC236}">
                  <a16:creationId xmlns:a16="http://schemas.microsoft.com/office/drawing/2014/main" id="{DF065CD2-2247-84CA-D47D-F8B99BC9E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10">
              <a:extLst>
                <a:ext uri="{FF2B5EF4-FFF2-40B4-BE49-F238E27FC236}">
                  <a16:creationId xmlns:a16="http://schemas.microsoft.com/office/drawing/2014/main" id="{8B7C65D1-B0A4-7E1D-8FA4-AB43166CBA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11">
              <a:extLst>
                <a:ext uri="{FF2B5EF4-FFF2-40B4-BE49-F238E27FC236}">
                  <a16:creationId xmlns:a16="http://schemas.microsoft.com/office/drawing/2014/main" id="{FF6F41F0-3B33-D7E4-BD28-4B48858513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12">
              <a:extLst>
                <a:ext uri="{FF2B5EF4-FFF2-40B4-BE49-F238E27FC236}">
                  <a16:creationId xmlns:a16="http://schemas.microsoft.com/office/drawing/2014/main" id="{EFE8DBEE-B00D-B91E-A58F-939CDEB2D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13">
              <a:extLst>
                <a:ext uri="{FF2B5EF4-FFF2-40B4-BE49-F238E27FC236}">
                  <a16:creationId xmlns:a16="http://schemas.microsoft.com/office/drawing/2014/main" id="{968FCE61-BA9B-3EF9-2416-68B86FBC3D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14">
              <a:extLst>
                <a:ext uri="{FF2B5EF4-FFF2-40B4-BE49-F238E27FC236}">
                  <a16:creationId xmlns:a16="http://schemas.microsoft.com/office/drawing/2014/main" id="{8B0F19E6-C95D-4AFD-1576-746321C95A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5">
              <a:extLst>
                <a:ext uri="{FF2B5EF4-FFF2-40B4-BE49-F238E27FC236}">
                  <a16:creationId xmlns:a16="http://schemas.microsoft.com/office/drawing/2014/main" id="{A058F46E-8149-0F3D-DABB-FBB3C5FAC0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6">
              <a:extLst>
                <a:ext uri="{FF2B5EF4-FFF2-40B4-BE49-F238E27FC236}">
                  <a16:creationId xmlns:a16="http://schemas.microsoft.com/office/drawing/2014/main" id="{B5CB29CA-C341-F239-5DFE-F2A6AE0216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7">
              <a:extLst>
                <a:ext uri="{FF2B5EF4-FFF2-40B4-BE49-F238E27FC236}">
                  <a16:creationId xmlns:a16="http://schemas.microsoft.com/office/drawing/2014/main" id="{27B7D912-23FB-453C-F0AC-61974DD9B2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8">
              <a:extLst>
                <a:ext uri="{FF2B5EF4-FFF2-40B4-BE49-F238E27FC236}">
                  <a16:creationId xmlns:a16="http://schemas.microsoft.com/office/drawing/2014/main" id="{F505ECC5-33D0-0090-CC78-349F4C13BF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9">
              <a:extLst>
                <a:ext uri="{FF2B5EF4-FFF2-40B4-BE49-F238E27FC236}">
                  <a16:creationId xmlns:a16="http://schemas.microsoft.com/office/drawing/2014/main" id="{C99E5080-7947-935A-57A5-26B7D4EC3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20">
              <a:extLst>
                <a:ext uri="{FF2B5EF4-FFF2-40B4-BE49-F238E27FC236}">
                  <a16:creationId xmlns:a16="http://schemas.microsoft.com/office/drawing/2014/main" id="{4309382D-E84A-E0F2-DD9C-403F1F0AA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21">
              <a:extLst>
                <a:ext uri="{FF2B5EF4-FFF2-40B4-BE49-F238E27FC236}">
                  <a16:creationId xmlns:a16="http://schemas.microsoft.com/office/drawing/2014/main" id="{A9A6A305-E013-C457-0BFE-63C65B6321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22">
              <a:extLst>
                <a:ext uri="{FF2B5EF4-FFF2-40B4-BE49-F238E27FC236}">
                  <a16:creationId xmlns:a16="http://schemas.microsoft.com/office/drawing/2014/main" id="{8CAA6D0B-CE99-527C-D6CA-423006086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23">
              <a:extLst>
                <a:ext uri="{FF2B5EF4-FFF2-40B4-BE49-F238E27FC236}">
                  <a16:creationId xmlns:a16="http://schemas.microsoft.com/office/drawing/2014/main" id="{633E4FAA-1ED4-BD0D-193E-309CF61251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24">
              <a:extLst>
                <a:ext uri="{FF2B5EF4-FFF2-40B4-BE49-F238E27FC236}">
                  <a16:creationId xmlns:a16="http://schemas.microsoft.com/office/drawing/2014/main" id="{EC52A003-0CA8-729C-0ED4-2419DC900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25">
              <a:extLst>
                <a:ext uri="{FF2B5EF4-FFF2-40B4-BE49-F238E27FC236}">
                  <a16:creationId xmlns:a16="http://schemas.microsoft.com/office/drawing/2014/main" id="{B3F27814-DB5A-EF76-FF8C-E265D5B07B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useBgFill="1">
        <p:nvSpPr>
          <p:cNvPr id="95" name="Rectangle 94">
            <a:extLst>
              <a:ext uri="{FF2B5EF4-FFF2-40B4-BE49-F238E27FC236}">
                <a16:creationId xmlns:a16="http://schemas.microsoft.com/office/drawing/2014/main" id="{F18C4795-44A4-38E3-DF06-0F1519F98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B804606-D11A-6F4D-3302-511E8C1BDD8A}"/>
              </a:ext>
            </a:extLst>
          </p:cNvPr>
          <p:cNvSpPr txBox="1"/>
          <p:nvPr/>
        </p:nvSpPr>
        <p:spPr>
          <a:xfrm>
            <a:off x="2142222" y="147091"/>
            <a:ext cx="9787840" cy="813347"/>
          </a:xfrm>
          <a:prstGeom prst="rect">
            <a:avLst/>
          </a:prstGeom>
        </p:spPr>
        <p:txBody>
          <a:bodyPr vert="horz" lIns="228600" tIns="228600" rIns="228600" bIns="228600" rtlCol="0" anchor="t">
            <a:normAutofit fontScale="77500" lnSpcReduction="20000"/>
          </a:bodyPr>
          <a:lstStyle/>
          <a:p>
            <a:pPr defTabSz="914400">
              <a:lnSpc>
                <a:spcPct val="85000"/>
              </a:lnSpc>
              <a:spcBef>
                <a:spcPct val="0"/>
              </a:spcBef>
              <a:spcAft>
                <a:spcPts val="600"/>
              </a:spcAft>
            </a:pPr>
            <a:r>
              <a:rPr lang="en-US" sz="4000" b="1" spc="-150" dirty="0">
                <a:solidFill>
                  <a:srgbClr val="C00000"/>
                </a:solidFill>
                <a:latin typeface="Calibri" panose="020F0502020204030204" pitchFamily="34" charset="0"/>
                <a:ea typeface="+mj-ea"/>
                <a:cs typeface="Calibri" panose="020F0502020204030204" pitchFamily="34" charset="0"/>
              </a:rPr>
              <a:t>Example: Associate Earning $2,000 Biweekly</a:t>
            </a:r>
          </a:p>
        </p:txBody>
      </p:sp>
      <p:sp>
        <p:nvSpPr>
          <p:cNvPr id="97" name="Isosceles Triangle 96">
            <a:extLst>
              <a:ext uri="{FF2B5EF4-FFF2-40B4-BE49-F238E27FC236}">
                <a16:creationId xmlns:a16="http://schemas.microsoft.com/office/drawing/2014/main" id="{227D57B8-03AA-6F27-528D-A4095C956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graphicFrame>
        <p:nvGraphicFramePr>
          <p:cNvPr id="2" name="Table 1">
            <a:extLst>
              <a:ext uri="{FF2B5EF4-FFF2-40B4-BE49-F238E27FC236}">
                <a16:creationId xmlns:a16="http://schemas.microsoft.com/office/drawing/2014/main" id="{1828C2D3-1B46-9FF4-54D2-A63068175B41}"/>
              </a:ext>
            </a:extLst>
          </p:cNvPr>
          <p:cNvGraphicFramePr>
            <a:graphicFrameLocks noGrp="1"/>
          </p:cNvGraphicFramePr>
          <p:nvPr>
            <p:extLst>
              <p:ext uri="{D42A27DB-BD31-4B8C-83A1-F6EECF244321}">
                <p14:modId xmlns:p14="http://schemas.microsoft.com/office/powerpoint/2010/main" val="1910301051"/>
              </p:ext>
            </p:extLst>
          </p:nvPr>
        </p:nvGraphicFramePr>
        <p:xfrm>
          <a:off x="3046123" y="957948"/>
          <a:ext cx="7837872" cy="4529832"/>
        </p:xfrm>
        <a:graphic>
          <a:graphicData uri="http://schemas.openxmlformats.org/drawingml/2006/table">
            <a:tbl>
              <a:tblPr firstRow="1" bandRow="1">
                <a:tableStyleId>{5C22544A-7EE6-4342-B048-85BDC9FD1C3A}</a:tableStyleId>
              </a:tblPr>
              <a:tblGrid>
                <a:gridCol w="2612624">
                  <a:extLst>
                    <a:ext uri="{9D8B030D-6E8A-4147-A177-3AD203B41FA5}">
                      <a16:colId xmlns:a16="http://schemas.microsoft.com/office/drawing/2014/main" val="2752051138"/>
                    </a:ext>
                  </a:extLst>
                </a:gridCol>
                <a:gridCol w="2612624">
                  <a:extLst>
                    <a:ext uri="{9D8B030D-6E8A-4147-A177-3AD203B41FA5}">
                      <a16:colId xmlns:a16="http://schemas.microsoft.com/office/drawing/2014/main" val="2364844501"/>
                    </a:ext>
                  </a:extLst>
                </a:gridCol>
                <a:gridCol w="2612624">
                  <a:extLst>
                    <a:ext uri="{9D8B030D-6E8A-4147-A177-3AD203B41FA5}">
                      <a16:colId xmlns:a16="http://schemas.microsoft.com/office/drawing/2014/main" val="959260485"/>
                    </a:ext>
                  </a:extLst>
                </a:gridCol>
              </a:tblGrid>
              <a:tr h="753381">
                <a:tc>
                  <a:txBody>
                    <a:bodyPr/>
                    <a:lstStyle/>
                    <a:p>
                      <a:pPr algn="ctr"/>
                      <a:r>
                        <a:rPr lang="en-US" dirty="0"/>
                        <a:t>Contribution Percentage</a:t>
                      </a:r>
                    </a:p>
                  </a:txBody>
                  <a:tcPr/>
                </a:tc>
                <a:tc>
                  <a:txBody>
                    <a:bodyPr/>
                    <a:lstStyle/>
                    <a:p>
                      <a:pPr algn="ctr"/>
                      <a:r>
                        <a:rPr lang="en-US" dirty="0"/>
                        <a:t>Associate Contribution</a:t>
                      </a:r>
                    </a:p>
                  </a:txBody>
                  <a:tcPr/>
                </a:tc>
                <a:tc>
                  <a:txBody>
                    <a:bodyPr/>
                    <a:lstStyle/>
                    <a:p>
                      <a:pPr algn="ctr"/>
                      <a:r>
                        <a:rPr lang="en-US" dirty="0"/>
                        <a:t>Redmond Contribution</a:t>
                      </a:r>
                    </a:p>
                  </a:txBody>
                  <a:tcPr/>
                </a:tc>
                <a:extLst>
                  <a:ext uri="{0D108BD9-81ED-4DB2-BD59-A6C34878D82A}">
                    <a16:rowId xmlns:a16="http://schemas.microsoft.com/office/drawing/2014/main" val="359484311"/>
                  </a:ext>
                </a:extLst>
              </a:tr>
              <a:tr h="539493">
                <a:tc>
                  <a:txBody>
                    <a:bodyPr/>
                    <a:lstStyle/>
                    <a:p>
                      <a:pPr algn="ctr"/>
                      <a:r>
                        <a:rPr lang="en-US" dirty="0"/>
                        <a:t>3.0%</a:t>
                      </a:r>
                    </a:p>
                  </a:txBody>
                  <a:tcPr/>
                </a:tc>
                <a:tc>
                  <a:txBody>
                    <a:bodyPr/>
                    <a:lstStyle/>
                    <a:p>
                      <a:pPr algn="ctr"/>
                      <a:r>
                        <a:rPr lang="en-US" dirty="0"/>
                        <a:t>$60</a:t>
                      </a:r>
                    </a:p>
                  </a:txBody>
                  <a:tcPr/>
                </a:tc>
                <a:tc>
                  <a:txBody>
                    <a:bodyPr/>
                    <a:lstStyle/>
                    <a:p>
                      <a:pPr algn="ctr"/>
                      <a:r>
                        <a:rPr lang="en-US" dirty="0"/>
                        <a:t>$40</a:t>
                      </a:r>
                    </a:p>
                  </a:txBody>
                  <a:tcPr/>
                </a:tc>
                <a:extLst>
                  <a:ext uri="{0D108BD9-81ED-4DB2-BD59-A6C34878D82A}">
                    <a16:rowId xmlns:a16="http://schemas.microsoft.com/office/drawing/2014/main" val="3091017367"/>
                  </a:ext>
                </a:extLst>
              </a:tr>
              <a:tr h="539493">
                <a:tc>
                  <a:txBody>
                    <a:bodyPr/>
                    <a:lstStyle/>
                    <a:p>
                      <a:pPr algn="ctr"/>
                      <a:r>
                        <a:rPr lang="en-US" dirty="0"/>
                        <a:t>4.0%</a:t>
                      </a:r>
                    </a:p>
                  </a:txBody>
                  <a:tcPr/>
                </a:tc>
                <a:tc>
                  <a:txBody>
                    <a:bodyPr/>
                    <a:lstStyle/>
                    <a:p>
                      <a:pPr algn="ctr"/>
                      <a:r>
                        <a:rPr lang="en-US" dirty="0"/>
                        <a:t>$80</a:t>
                      </a:r>
                    </a:p>
                  </a:txBody>
                  <a:tcPr/>
                </a:tc>
                <a:tc>
                  <a:txBody>
                    <a:bodyPr/>
                    <a:lstStyle/>
                    <a:p>
                      <a:pPr algn="ctr"/>
                      <a:r>
                        <a:rPr lang="en-US" dirty="0"/>
                        <a:t>$50</a:t>
                      </a:r>
                    </a:p>
                  </a:txBody>
                  <a:tcPr/>
                </a:tc>
                <a:extLst>
                  <a:ext uri="{0D108BD9-81ED-4DB2-BD59-A6C34878D82A}">
                    <a16:rowId xmlns:a16="http://schemas.microsoft.com/office/drawing/2014/main" val="292151087"/>
                  </a:ext>
                </a:extLst>
              </a:tr>
              <a:tr h="539493">
                <a:tc>
                  <a:txBody>
                    <a:bodyPr/>
                    <a:lstStyle/>
                    <a:p>
                      <a:pPr algn="ctr"/>
                      <a:r>
                        <a:rPr lang="en-US" dirty="0"/>
                        <a:t>5.0%</a:t>
                      </a:r>
                    </a:p>
                  </a:txBody>
                  <a:tcPr/>
                </a:tc>
                <a:tc>
                  <a:txBody>
                    <a:bodyPr/>
                    <a:lstStyle/>
                    <a:p>
                      <a:pPr algn="ctr"/>
                      <a:r>
                        <a:rPr lang="en-US" dirty="0"/>
                        <a:t>$100</a:t>
                      </a:r>
                    </a:p>
                  </a:txBody>
                  <a:tcPr/>
                </a:tc>
                <a:tc>
                  <a:txBody>
                    <a:bodyPr/>
                    <a:lstStyle/>
                    <a:p>
                      <a:pPr algn="ctr"/>
                      <a:r>
                        <a:rPr lang="en-US" dirty="0"/>
                        <a:t>$60</a:t>
                      </a:r>
                    </a:p>
                  </a:txBody>
                  <a:tcPr/>
                </a:tc>
                <a:extLst>
                  <a:ext uri="{0D108BD9-81ED-4DB2-BD59-A6C34878D82A}">
                    <a16:rowId xmlns:a16="http://schemas.microsoft.com/office/drawing/2014/main" val="1944479927"/>
                  </a:ext>
                </a:extLst>
              </a:tr>
              <a:tr h="539493">
                <a:tc>
                  <a:txBody>
                    <a:bodyPr/>
                    <a:lstStyle/>
                    <a:p>
                      <a:pPr algn="ctr"/>
                      <a:r>
                        <a:rPr lang="en-US" dirty="0"/>
                        <a:t>6.0%</a:t>
                      </a:r>
                    </a:p>
                  </a:txBody>
                  <a:tcPr/>
                </a:tc>
                <a:tc>
                  <a:txBody>
                    <a:bodyPr/>
                    <a:lstStyle/>
                    <a:p>
                      <a:pPr algn="ctr"/>
                      <a:r>
                        <a:rPr lang="en-US" dirty="0"/>
                        <a:t>$120</a:t>
                      </a:r>
                    </a:p>
                  </a:txBody>
                  <a:tcPr/>
                </a:tc>
                <a:tc>
                  <a:txBody>
                    <a:bodyPr/>
                    <a:lstStyle/>
                    <a:p>
                      <a:pPr algn="ctr"/>
                      <a:r>
                        <a:rPr lang="en-US" dirty="0"/>
                        <a:t>$70</a:t>
                      </a:r>
                    </a:p>
                  </a:txBody>
                  <a:tcPr/>
                </a:tc>
                <a:extLst>
                  <a:ext uri="{0D108BD9-81ED-4DB2-BD59-A6C34878D82A}">
                    <a16:rowId xmlns:a16="http://schemas.microsoft.com/office/drawing/2014/main" val="1739205398"/>
                  </a:ext>
                </a:extLst>
              </a:tr>
              <a:tr h="539493">
                <a:tc>
                  <a:txBody>
                    <a:bodyPr/>
                    <a:lstStyle/>
                    <a:p>
                      <a:pPr algn="ctr"/>
                      <a:r>
                        <a:rPr lang="en-US" dirty="0"/>
                        <a:t>7.0%</a:t>
                      </a:r>
                    </a:p>
                  </a:txBody>
                  <a:tcPr/>
                </a:tc>
                <a:tc>
                  <a:txBody>
                    <a:bodyPr/>
                    <a:lstStyle/>
                    <a:p>
                      <a:pPr algn="ctr"/>
                      <a:r>
                        <a:rPr lang="en-US" dirty="0"/>
                        <a:t>$140</a:t>
                      </a:r>
                    </a:p>
                  </a:txBody>
                  <a:tcPr/>
                </a:tc>
                <a:tc>
                  <a:txBody>
                    <a:bodyPr/>
                    <a:lstStyle/>
                    <a:p>
                      <a:pPr algn="ctr"/>
                      <a:r>
                        <a:rPr lang="en-US" dirty="0"/>
                        <a:t>$75</a:t>
                      </a:r>
                    </a:p>
                  </a:txBody>
                  <a:tcPr/>
                </a:tc>
                <a:extLst>
                  <a:ext uri="{0D108BD9-81ED-4DB2-BD59-A6C34878D82A}">
                    <a16:rowId xmlns:a16="http://schemas.microsoft.com/office/drawing/2014/main" val="676370931"/>
                  </a:ext>
                </a:extLst>
              </a:tr>
              <a:tr h="539493">
                <a:tc>
                  <a:txBody>
                    <a:bodyPr/>
                    <a:lstStyle/>
                    <a:p>
                      <a:pPr algn="ctr"/>
                      <a:r>
                        <a:rPr lang="en-US" dirty="0"/>
                        <a:t>8.0%</a:t>
                      </a:r>
                    </a:p>
                  </a:txBody>
                  <a:tcPr/>
                </a:tc>
                <a:tc>
                  <a:txBody>
                    <a:bodyPr/>
                    <a:lstStyle/>
                    <a:p>
                      <a:pPr algn="ctr"/>
                      <a:r>
                        <a:rPr lang="en-US" dirty="0"/>
                        <a:t>$160</a:t>
                      </a:r>
                    </a:p>
                  </a:txBody>
                  <a:tcPr/>
                </a:tc>
                <a:tc>
                  <a:txBody>
                    <a:bodyPr/>
                    <a:lstStyle/>
                    <a:p>
                      <a:pPr algn="ctr"/>
                      <a:r>
                        <a:rPr lang="en-US" dirty="0"/>
                        <a:t>$80</a:t>
                      </a:r>
                    </a:p>
                  </a:txBody>
                  <a:tcPr/>
                </a:tc>
                <a:extLst>
                  <a:ext uri="{0D108BD9-81ED-4DB2-BD59-A6C34878D82A}">
                    <a16:rowId xmlns:a16="http://schemas.microsoft.com/office/drawing/2014/main" val="1322733575"/>
                  </a:ext>
                </a:extLst>
              </a:tr>
              <a:tr h="539493">
                <a:tc>
                  <a:txBody>
                    <a:bodyPr/>
                    <a:lstStyle/>
                    <a:p>
                      <a:pPr algn="ctr"/>
                      <a:r>
                        <a:rPr lang="en-US" dirty="0"/>
                        <a:t>10.0%</a:t>
                      </a:r>
                    </a:p>
                  </a:txBody>
                  <a:tcPr/>
                </a:tc>
                <a:tc>
                  <a:txBody>
                    <a:bodyPr/>
                    <a:lstStyle/>
                    <a:p>
                      <a:pPr algn="ctr"/>
                      <a:r>
                        <a:rPr lang="en-US" dirty="0"/>
                        <a:t>$200</a:t>
                      </a:r>
                    </a:p>
                  </a:txBody>
                  <a:tcPr/>
                </a:tc>
                <a:tc>
                  <a:txBody>
                    <a:bodyPr/>
                    <a:lstStyle/>
                    <a:p>
                      <a:pPr algn="ctr"/>
                      <a:r>
                        <a:rPr lang="en-US" dirty="0"/>
                        <a:t>$80</a:t>
                      </a:r>
                    </a:p>
                  </a:txBody>
                  <a:tcPr/>
                </a:tc>
                <a:extLst>
                  <a:ext uri="{0D108BD9-81ED-4DB2-BD59-A6C34878D82A}">
                    <a16:rowId xmlns:a16="http://schemas.microsoft.com/office/drawing/2014/main" val="3242701505"/>
                  </a:ext>
                </a:extLst>
              </a:tr>
            </a:tbl>
          </a:graphicData>
        </a:graphic>
      </p:graphicFrame>
      <p:sp>
        <p:nvSpPr>
          <p:cNvPr id="5" name="Content Placeholder 2">
            <a:extLst>
              <a:ext uri="{FF2B5EF4-FFF2-40B4-BE49-F238E27FC236}">
                <a16:creationId xmlns:a16="http://schemas.microsoft.com/office/drawing/2014/main" id="{BBE6A6FE-86AE-B77F-BD6E-BDFD765744B1}"/>
              </a:ext>
            </a:extLst>
          </p:cNvPr>
          <p:cNvSpPr txBox="1">
            <a:spLocks/>
          </p:cNvSpPr>
          <p:nvPr/>
        </p:nvSpPr>
        <p:spPr>
          <a:xfrm>
            <a:off x="2028824" y="5551010"/>
            <a:ext cx="9882189" cy="1159899"/>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646113" indent="-452438">
              <a:lnSpc>
                <a:spcPct val="100000"/>
              </a:lnSpc>
              <a:spcBef>
                <a:spcPts val="600"/>
              </a:spcBef>
              <a:spcAft>
                <a:spcPts val="600"/>
              </a:spcAft>
            </a:pPr>
            <a:r>
              <a:rPr lang="en-US" sz="2000" dirty="0"/>
              <a:t>Your contribution is 100% yours no matter how long you stay with Redmond</a:t>
            </a:r>
          </a:p>
          <a:p>
            <a:pPr marL="646113" indent="-452438">
              <a:lnSpc>
                <a:spcPct val="100000"/>
              </a:lnSpc>
              <a:spcBef>
                <a:spcPts val="600"/>
              </a:spcBef>
              <a:spcAft>
                <a:spcPts val="600"/>
              </a:spcAft>
            </a:pPr>
            <a:r>
              <a:rPr lang="en-US" sz="2000" dirty="0"/>
              <a:t>Redmond’s contribution is subject to “vesting” and isn’t 100% yours until you’ve been an employee for the entire vesting period  </a:t>
            </a:r>
          </a:p>
        </p:txBody>
      </p:sp>
    </p:spTree>
    <p:extLst>
      <p:ext uri="{BB962C8B-B14F-4D97-AF65-F5344CB8AC3E}">
        <p14:creationId xmlns:p14="http://schemas.microsoft.com/office/powerpoint/2010/main" val="2981610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2"/>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4EC30C-282E-419B-4E0F-FDE6B0D57E38}"/>
            </a:ext>
          </a:extLst>
        </p:cNvPr>
        <p:cNvGrpSpPr/>
        <p:nvPr/>
      </p:nvGrpSpPr>
      <p:grpSpPr>
        <a:xfrm>
          <a:off x="0" y="0"/>
          <a:ext cx="0" cy="0"/>
          <a:chOff x="0" y="0"/>
          <a:chExt cx="0" cy="0"/>
        </a:xfrm>
      </p:grpSpPr>
      <p:grpSp>
        <p:nvGrpSpPr>
          <p:cNvPr id="42" name="Group 41">
            <a:extLst>
              <a:ext uri="{FF2B5EF4-FFF2-40B4-BE49-F238E27FC236}">
                <a16:creationId xmlns:a16="http://schemas.microsoft.com/office/drawing/2014/main" id="{C85100CA-1DA9-BDD7-3A2A-1070E9239C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3" name="Freeform 5">
              <a:extLst>
                <a:ext uri="{FF2B5EF4-FFF2-40B4-BE49-F238E27FC236}">
                  <a16:creationId xmlns:a16="http://schemas.microsoft.com/office/drawing/2014/main" id="{64910864-E0D8-DB55-3B32-996112A92B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6">
              <a:extLst>
                <a:ext uri="{FF2B5EF4-FFF2-40B4-BE49-F238E27FC236}">
                  <a16:creationId xmlns:a16="http://schemas.microsoft.com/office/drawing/2014/main" id="{6BAE5C04-3956-9FA2-DE5C-50541655A4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7">
              <a:extLst>
                <a:ext uri="{FF2B5EF4-FFF2-40B4-BE49-F238E27FC236}">
                  <a16:creationId xmlns:a16="http://schemas.microsoft.com/office/drawing/2014/main" id="{9B9944AE-819A-52AE-30C8-928DA2C09A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8">
              <a:extLst>
                <a:ext uri="{FF2B5EF4-FFF2-40B4-BE49-F238E27FC236}">
                  <a16:creationId xmlns:a16="http://schemas.microsoft.com/office/drawing/2014/main" id="{B3C9D17B-26F7-1EED-8656-7AE5DD0F5E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9">
              <a:extLst>
                <a:ext uri="{FF2B5EF4-FFF2-40B4-BE49-F238E27FC236}">
                  <a16:creationId xmlns:a16="http://schemas.microsoft.com/office/drawing/2014/main" id="{F34FAE7B-7096-FD34-377F-157AC6FAE1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0">
              <a:extLst>
                <a:ext uri="{FF2B5EF4-FFF2-40B4-BE49-F238E27FC236}">
                  <a16:creationId xmlns:a16="http://schemas.microsoft.com/office/drawing/2014/main" id="{CD5A5F26-E301-126E-E423-93F4C4FF08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1">
              <a:extLst>
                <a:ext uri="{FF2B5EF4-FFF2-40B4-BE49-F238E27FC236}">
                  <a16:creationId xmlns:a16="http://schemas.microsoft.com/office/drawing/2014/main" id="{A32E41F3-AB6E-BBEC-208C-57A7712CB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2">
              <a:extLst>
                <a:ext uri="{FF2B5EF4-FFF2-40B4-BE49-F238E27FC236}">
                  <a16:creationId xmlns:a16="http://schemas.microsoft.com/office/drawing/2014/main" id="{850A588C-D3A5-2FDF-51CF-73E73AF9EA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3">
              <a:extLst>
                <a:ext uri="{FF2B5EF4-FFF2-40B4-BE49-F238E27FC236}">
                  <a16:creationId xmlns:a16="http://schemas.microsoft.com/office/drawing/2014/main" id="{9F78FFCD-5773-1C7B-9411-9D320131A2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4">
              <a:extLst>
                <a:ext uri="{FF2B5EF4-FFF2-40B4-BE49-F238E27FC236}">
                  <a16:creationId xmlns:a16="http://schemas.microsoft.com/office/drawing/2014/main" id="{0CE39AE6-598C-425D-2D54-1A18C16FED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5">
              <a:extLst>
                <a:ext uri="{FF2B5EF4-FFF2-40B4-BE49-F238E27FC236}">
                  <a16:creationId xmlns:a16="http://schemas.microsoft.com/office/drawing/2014/main" id="{F6BE305B-F8F7-A241-1CD7-CF01D5D7A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6">
              <a:extLst>
                <a:ext uri="{FF2B5EF4-FFF2-40B4-BE49-F238E27FC236}">
                  <a16:creationId xmlns:a16="http://schemas.microsoft.com/office/drawing/2014/main" id="{1EF51964-9E75-A776-89BB-A30DAB110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7">
              <a:extLst>
                <a:ext uri="{FF2B5EF4-FFF2-40B4-BE49-F238E27FC236}">
                  <a16:creationId xmlns:a16="http://schemas.microsoft.com/office/drawing/2014/main" id="{CC62D9B9-EE2D-A6EA-107C-10247A444A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8">
              <a:extLst>
                <a:ext uri="{FF2B5EF4-FFF2-40B4-BE49-F238E27FC236}">
                  <a16:creationId xmlns:a16="http://schemas.microsoft.com/office/drawing/2014/main" id="{4F95B04B-7393-9121-6574-1EA3495CF8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9">
              <a:extLst>
                <a:ext uri="{FF2B5EF4-FFF2-40B4-BE49-F238E27FC236}">
                  <a16:creationId xmlns:a16="http://schemas.microsoft.com/office/drawing/2014/main" id="{A8F0C123-7004-167B-DFE1-D59CDD8E5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0">
              <a:extLst>
                <a:ext uri="{FF2B5EF4-FFF2-40B4-BE49-F238E27FC236}">
                  <a16:creationId xmlns:a16="http://schemas.microsoft.com/office/drawing/2014/main" id="{01F65D44-5675-93A3-96E5-2CFD29F4CB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1">
              <a:extLst>
                <a:ext uri="{FF2B5EF4-FFF2-40B4-BE49-F238E27FC236}">
                  <a16:creationId xmlns:a16="http://schemas.microsoft.com/office/drawing/2014/main" id="{D9F1D978-6914-329D-876E-FEE3F0175C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2">
              <a:extLst>
                <a:ext uri="{FF2B5EF4-FFF2-40B4-BE49-F238E27FC236}">
                  <a16:creationId xmlns:a16="http://schemas.microsoft.com/office/drawing/2014/main" id="{CD691D89-C183-7AF8-B976-D6863DD557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3">
              <a:extLst>
                <a:ext uri="{FF2B5EF4-FFF2-40B4-BE49-F238E27FC236}">
                  <a16:creationId xmlns:a16="http://schemas.microsoft.com/office/drawing/2014/main" id="{8BD19E87-0245-37B5-0A35-065FE24FA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4">
              <a:extLst>
                <a:ext uri="{FF2B5EF4-FFF2-40B4-BE49-F238E27FC236}">
                  <a16:creationId xmlns:a16="http://schemas.microsoft.com/office/drawing/2014/main" id="{F8165080-3260-DF25-67A6-9EAEFFD4F0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5">
              <a:extLst>
                <a:ext uri="{FF2B5EF4-FFF2-40B4-BE49-F238E27FC236}">
                  <a16:creationId xmlns:a16="http://schemas.microsoft.com/office/drawing/2014/main" id="{DBBBDC4E-F8A1-B514-C776-046AB9125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5" name="Group 64">
            <a:extLst>
              <a:ext uri="{FF2B5EF4-FFF2-40B4-BE49-F238E27FC236}">
                <a16:creationId xmlns:a16="http://schemas.microsoft.com/office/drawing/2014/main" id="{96C94AA2-93D2-D37D-FC02-18946061311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66" name="Rectangle 65">
              <a:extLst>
                <a:ext uri="{FF2B5EF4-FFF2-40B4-BE49-F238E27FC236}">
                  <a16:creationId xmlns:a16="http://schemas.microsoft.com/office/drawing/2014/main" id="{B3B48454-1EA8-2C52-02F6-E275B0394A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67" name="Isosceles Triangle 22">
              <a:extLst>
                <a:ext uri="{FF2B5EF4-FFF2-40B4-BE49-F238E27FC236}">
                  <a16:creationId xmlns:a16="http://schemas.microsoft.com/office/drawing/2014/main" id="{5A35411C-3671-1227-ABA7-DD14C69F52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8" name="Rectangle 67">
              <a:extLst>
                <a:ext uri="{FF2B5EF4-FFF2-40B4-BE49-F238E27FC236}">
                  <a16:creationId xmlns:a16="http://schemas.microsoft.com/office/drawing/2014/main" id="{9AB03BF2-B7B5-7946-48CD-8C3FA4AF41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70" name="Rectangle 69">
            <a:extLst>
              <a:ext uri="{FF2B5EF4-FFF2-40B4-BE49-F238E27FC236}">
                <a16:creationId xmlns:a16="http://schemas.microsoft.com/office/drawing/2014/main" id="{CB0008F8-0363-BCA2-5262-99D6B20FB0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71">
            <a:extLst>
              <a:ext uri="{FF2B5EF4-FFF2-40B4-BE49-F238E27FC236}">
                <a16:creationId xmlns:a16="http://schemas.microsoft.com/office/drawing/2014/main" id="{9BD2F196-50C2-2455-11BD-DE8B9C44A3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73" name="Freeform 5">
              <a:extLst>
                <a:ext uri="{FF2B5EF4-FFF2-40B4-BE49-F238E27FC236}">
                  <a16:creationId xmlns:a16="http://schemas.microsoft.com/office/drawing/2014/main" id="{0AAB1B79-F66D-DC01-C8F4-1F03E20987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 name="Freeform 6">
              <a:extLst>
                <a:ext uri="{FF2B5EF4-FFF2-40B4-BE49-F238E27FC236}">
                  <a16:creationId xmlns:a16="http://schemas.microsoft.com/office/drawing/2014/main" id="{FAE5B95D-A657-5F7F-6BF7-7D5F529ED3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 name="Freeform 7">
              <a:extLst>
                <a:ext uri="{FF2B5EF4-FFF2-40B4-BE49-F238E27FC236}">
                  <a16:creationId xmlns:a16="http://schemas.microsoft.com/office/drawing/2014/main" id="{E88C5976-02C0-13D8-2E90-7FA04A8CB0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6" name="Freeform 8">
              <a:extLst>
                <a:ext uri="{FF2B5EF4-FFF2-40B4-BE49-F238E27FC236}">
                  <a16:creationId xmlns:a16="http://schemas.microsoft.com/office/drawing/2014/main" id="{D79AEA6C-F416-D12A-2787-EC3A5DA5E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9">
              <a:extLst>
                <a:ext uri="{FF2B5EF4-FFF2-40B4-BE49-F238E27FC236}">
                  <a16:creationId xmlns:a16="http://schemas.microsoft.com/office/drawing/2014/main" id="{18712C76-0255-7415-C38F-E4405C4091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10">
              <a:extLst>
                <a:ext uri="{FF2B5EF4-FFF2-40B4-BE49-F238E27FC236}">
                  <a16:creationId xmlns:a16="http://schemas.microsoft.com/office/drawing/2014/main" id="{B6EB2B6D-4F19-D9EE-2ABE-FEA8B31B3C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11">
              <a:extLst>
                <a:ext uri="{FF2B5EF4-FFF2-40B4-BE49-F238E27FC236}">
                  <a16:creationId xmlns:a16="http://schemas.microsoft.com/office/drawing/2014/main" id="{3E8317F2-2B78-6077-90E4-FA839437FA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12">
              <a:extLst>
                <a:ext uri="{FF2B5EF4-FFF2-40B4-BE49-F238E27FC236}">
                  <a16:creationId xmlns:a16="http://schemas.microsoft.com/office/drawing/2014/main" id="{34D21D26-B0D7-3E9D-2EFC-9E2FC1E7A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13">
              <a:extLst>
                <a:ext uri="{FF2B5EF4-FFF2-40B4-BE49-F238E27FC236}">
                  <a16:creationId xmlns:a16="http://schemas.microsoft.com/office/drawing/2014/main" id="{BE0466ED-6AF6-1F3E-AC72-C7BCF2A982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14">
              <a:extLst>
                <a:ext uri="{FF2B5EF4-FFF2-40B4-BE49-F238E27FC236}">
                  <a16:creationId xmlns:a16="http://schemas.microsoft.com/office/drawing/2014/main" id="{53A5C7DD-F1A5-2CB3-9CA1-8BB78AA58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5">
              <a:extLst>
                <a:ext uri="{FF2B5EF4-FFF2-40B4-BE49-F238E27FC236}">
                  <a16:creationId xmlns:a16="http://schemas.microsoft.com/office/drawing/2014/main" id="{066E9B9E-D06C-D6C6-90D9-96A8DD9C71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6">
              <a:extLst>
                <a:ext uri="{FF2B5EF4-FFF2-40B4-BE49-F238E27FC236}">
                  <a16:creationId xmlns:a16="http://schemas.microsoft.com/office/drawing/2014/main" id="{FD5C27B0-A351-AF97-BBE7-49A5D0567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7">
              <a:extLst>
                <a:ext uri="{FF2B5EF4-FFF2-40B4-BE49-F238E27FC236}">
                  <a16:creationId xmlns:a16="http://schemas.microsoft.com/office/drawing/2014/main" id="{7AF8511F-B01E-C9DB-AD95-7F56F2F96B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8">
              <a:extLst>
                <a:ext uri="{FF2B5EF4-FFF2-40B4-BE49-F238E27FC236}">
                  <a16:creationId xmlns:a16="http://schemas.microsoft.com/office/drawing/2014/main" id="{945C6909-A6EF-188E-3EB4-03D3FE91B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9">
              <a:extLst>
                <a:ext uri="{FF2B5EF4-FFF2-40B4-BE49-F238E27FC236}">
                  <a16:creationId xmlns:a16="http://schemas.microsoft.com/office/drawing/2014/main" id="{7BC5F1EC-3066-7BAC-1428-083E87435B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20">
              <a:extLst>
                <a:ext uri="{FF2B5EF4-FFF2-40B4-BE49-F238E27FC236}">
                  <a16:creationId xmlns:a16="http://schemas.microsoft.com/office/drawing/2014/main" id="{748DEFF5-5EC9-CB35-5A1A-B011866053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21">
              <a:extLst>
                <a:ext uri="{FF2B5EF4-FFF2-40B4-BE49-F238E27FC236}">
                  <a16:creationId xmlns:a16="http://schemas.microsoft.com/office/drawing/2014/main" id="{1738C1DE-AE83-C1A4-B0F9-63D4C0CE8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22">
              <a:extLst>
                <a:ext uri="{FF2B5EF4-FFF2-40B4-BE49-F238E27FC236}">
                  <a16:creationId xmlns:a16="http://schemas.microsoft.com/office/drawing/2014/main" id="{982158C2-94A0-EA5A-181C-CE72461CCE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23">
              <a:extLst>
                <a:ext uri="{FF2B5EF4-FFF2-40B4-BE49-F238E27FC236}">
                  <a16:creationId xmlns:a16="http://schemas.microsoft.com/office/drawing/2014/main" id="{0F7C7FCD-4ECF-98E2-5D86-0D4E5FFF71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24">
              <a:extLst>
                <a:ext uri="{FF2B5EF4-FFF2-40B4-BE49-F238E27FC236}">
                  <a16:creationId xmlns:a16="http://schemas.microsoft.com/office/drawing/2014/main" id="{1D87F7BC-CD54-D8A1-BA48-B6273005B8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25">
              <a:extLst>
                <a:ext uri="{FF2B5EF4-FFF2-40B4-BE49-F238E27FC236}">
                  <a16:creationId xmlns:a16="http://schemas.microsoft.com/office/drawing/2014/main" id="{DB056D04-BB17-5781-327E-AD8773BA3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useBgFill="1">
        <p:nvSpPr>
          <p:cNvPr id="95" name="Rectangle 94">
            <a:extLst>
              <a:ext uri="{FF2B5EF4-FFF2-40B4-BE49-F238E27FC236}">
                <a16:creationId xmlns:a16="http://schemas.microsoft.com/office/drawing/2014/main" id="{B8542D44-F9C0-9C4D-651D-BCE8E6010F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EF79AB8-DBFE-C89A-3FFF-739D4B3E296A}"/>
              </a:ext>
            </a:extLst>
          </p:cNvPr>
          <p:cNvSpPr txBox="1"/>
          <p:nvPr/>
        </p:nvSpPr>
        <p:spPr>
          <a:xfrm>
            <a:off x="2142222" y="147091"/>
            <a:ext cx="9736868" cy="1375076"/>
          </a:xfrm>
          <a:prstGeom prst="rect">
            <a:avLst/>
          </a:prstGeom>
        </p:spPr>
        <p:txBody>
          <a:bodyPr vert="horz" lIns="228600" tIns="228600" rIns="228600" bIns="228600" rtlCol="0" anchor="t">
            <a:normAutofit/>
          </a:bodyPr>
          <a:lstStyle/>
          <a:p>
            <a:pPr defTabSz="914400">
              <a:lnSpc>
                <a:spcPct val="85000"/>
              </a:lnSpc>
              <a:spcBef>
                <a:spcPct val="0"/>
              </a:spcBef>
              <a:spcAft>
                <a:spcPts val="600"/>
              </a:spcAft>
            </a:pPr>
            <a:r>
              <a:rPr lang="en-US" sz="5200" b="1" spc="-150" dirty="0">
                <a:solidFill>
                  <a:srgbClr val="C00000"/>
                </a:solidFill>
                <a:latin typeface="Calibri" panose="020F0502020204030204" pitchFamily="34" charset="0"/>
                <a:ea typeface="+mj-ea"/>
                <a:cs typeface="Calibri" panose="020F0502020204030204" pitchFamily="34" charset="0"/>
              </a:rPr>
              <a:t>ROTH Versus Traditional</a:t>
            </a:r>
          </a:p>
        </p:txBody>
      </p:sp>
      <p:sp>
        <p:nvSpPr>
          <p:cNvPr id="97" name="Isosceles Triangle 96">
            <a:extLst>
              <a:ext uri="{FF2B5EF4-FFF2-40B4-BE49-F238E27FC236}">
                <a16:creationId xmlns:a16="http://schemas.microsoft.com/office/drawing/2014/main" id="{B261643A-7E6A-1EAB-CB2C-F6A544342E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4" name="Content Placeholder 2">
            <a:extLst>
              <a:ext uri="{FF2B5EF4-FFF2-40B4-BE49-F238E27FC236}">
                <a16:creationId xmlns:a16="http://schemas.microsoft.com/office/drawing/2014/main" id="{385A588F-3C5A-2174-514E-9651B9630C00}"/>
              </a:ext>
            </a:extLst>
          </p:cNvPr>
          <p:cNvSpPr txBox="1">
            <a:spLocks/>
          </p:cNvSpPr>
          <p:nvPr/>
        </p:nvSpPr>
        <p:spPr>
          <a:xfrm>
            <a:off x="1923665" y="1141711"/>
            <a:ext cx="10052435" cy="5569198"/>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646113" indent="-452438">
              <a:lnSpc>
                <a:spcPct val="100000"/>
              </a:lnSpc>
              <a:spcBef>
                <a:spcPts val="600"/>
              </a:spcBef>
              <a:spcAft>
                <a:spcPts val="600"/>
              </a:spcAft>
            </a:pPr>
            <a:r>
              <a:rPr lang="en-US" sz="3200" dirty="0"/>
              <a:t>ROTH is post-tax--</a:t>
            </a:r>
            <a:r>
              <a:rPr lang="en-US" sz="2000" dirty="0"/>
              <a:t>You pay the full tax amount today and the money grows tax free, which means that when you are old enough to withdraw it, you won’t pay tax on the growth, whether from interest, dividends, investment returns, etc.</a:t>
            </a:r>
          </a:p>
          <a:p>
            <a:pPr marL="646113" indent="-452438">
              <a:lnSpc>
                <a:spcPct val="100000"/>
              </a:lnSpc>
              <a:spcBef>
                <a:spcPts val="600"/>
              </a:spcBef>
              <a:spcAft>
                <a:spcPts val="600"/>
              </a:spcAft>
            </a:pPr>
            <a:r>
              <a:rPr lang="en-US" sz="3200" dirty="0"/>
              <a:t>Traditional is pre-tax--</a:t>
            </a:r>
            <a:r>
              <a:rPr lang="en-US" sz="2000" dirty="0"/>
              <a:t>The amount you contribute is subtracted from your W-2 wages before your income tax is calculated. That reduces how much you owe in taxes today, but when you retire and withdraw the money the IRS will tax whatever you take out—your initial contribution as well as any interest, investment gains, etc.</a:t>
            </a:r>
          </a:p>
          <a:p>
            <a:pPr marL="646113" indent="-452438">
              <a:lnSpc>
                <a:spcPct val="100000"/>
              </a:lnSpc>
              <a:spcBef>
                <a:spcPts val="600"/>
              </a:spcBef>
              <a:spcAft>
                <a:spcPts val="600"/>
              </a:spcAft>
            </a:pPr>
            <a:r>
              <a:rPr lang="en-US" sz="3200" dirty="0"/>
              <a:t>Which is better? </a:t>
            </a:r>
            <a:r>
              <a:rPr lang="en-US" sz="2000" dirty="0"/>
              <a:t>Experts disagree and it depends on your situation. In general, the ROTH option is better when you’re younger or in a lower tax bracket, but even that depends on what your goals are. Research the options or talk to an advisor to learn what’s best for your situation.  </a:t>
            </a:r>
          </a:p>
          <a:p>
            <a:pPr marL="646113" indent="-452438">
              <a:lnSpc>
                <a:spcPct val="100000"/>
              </a:lnSpc>
              <a:spcBef>
                <a:spcPts val="0"/>
              </a:spcBef>
              <a:spcAft>
                <a:spcPts val="600"/>
              </a:spcAft>
            </a:pPr>
            <a:endParaRPr lang="en-US" sz="2800" dirty="0"/>
          </a:p>
        </p:txBody>
      </p:sp>
    </p:spTree>
    <p:extLst>
      <p:ext uri="{BB962C8B-B14F-4D97-AF65-F5344CB8AC3E}">
        <p14:creationId xmlns:p14="http://schemas.microsoft.com/office/powerpoint/2010/main" val="1683524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14D882-F8D5-4E85-EE5F-59CEBFAC5ACF}"/>
            </a:ext>
          </a:extLst>
        </p:cNvPr>
        <p:cNvGrpSpPr/>
        <p:nvPr/>
      </p:nvGrpSpPr>
      <p:grpSpPr>
        <a:xfrm>
          <a:off x="0" y="0"/>
          <a:ext cx="0" cy="0"/>
          <a:chOff x="0" y="0"/>
          <a:chExt cx="0" cy="0"/>
        </a:xfrm>
      </p:grpSpPr>
      <p:grpSp>
        <p:nvGrpSpPr>
          <p:cNvPr id="42" name="Group 41">
            <a:extLst>
              <a:ext uri="{FF2B5EF4-FFF2-40B4-BE49-F238E27FC236}">
                <a16:creationId xmlns:a16="http://schemas.microsoft.com/office/drawing/2014/main" id="{ACB5C71E-461D-1A1C-E498-99259D45C8F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3" name="Freeform 5">
              <a:extLst>
                <a:ext uri="{FF2B5EF4-FFF2-40B4-BE49-F238E27FC236}">
                  <a16:creationId xmlns:a16="http://schemas.microsoft.com/office/drawing/2014/main" id="{110B8E20-0E75-5329-D629-6CC1647606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6">
              <a:extLst>
                <a:ext uri="{FF2B5EF4-FFF2-40B4-BE49-F238E27FC236}">
                  <a16:creationId xmlns:a16="http://schemas.microsoft.com/office/drawing/2014/main" id="{8BE1A0CE-23C9-1C4D-3528-C95ACB31BB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7">
              <a:extLst>
                <a:ext uri="{FF2B5EF4-FFF2-40B4-BE49-F238E27FC236}">
                  <a16:creationId xmlns:a16="http://schemas.microsoft.com/office/drawing/2014/main" id="{327A8AC6-8807-AB08-5B5D-B6359369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8">
              <a:extLst>
                <a:ext uri="{FF2B5EF4-FFF2-40B4-BE49-F238E27FC236}">
                  <a16:creationId xmlns:a16="http://schemas.microsoft.com/office/drawing/2014/main" id="{EDAC5C91-9D65-D20E-C2DD-A20B874799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9">
              <a:extLst>
                <a:ext uri="{FF2B5EF4-FFF2-40B4-BE49-F238E27FC236}">
                  <a16:creationId xmlns:a16="http://schemas.microsoft.com/office/drawing/2014/main" id="{ED8E1C42-5647-DE3F-5504-49DB1DED5A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0">
              <a:extLst>
                <a:ext uri="{FF2B5EF4-FFF2-40B4-BE49-F238E27FC236}">
                  <a16:creationId xmlns:a16="http://schemas.microsoft.com/office/drawing/2014/main" id="{B4482ECA-D95D-A4D1-3F0A-2D5D723DD1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1">
              <a:extLst>
                <a:ext uri="{FF2B5EF4-FFF2-40B4-BE49-F238E27FC236}">
                  <a16:creationId xmlns:a16="http://schemas.microsoft.com/office/drawing/2014/main" id="{8AE21044-50D8-664E-44A1-77BE0CAE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2">
              <a:extLst>
                <a:ext uri="{FF2B5EF4-FFF2-40B4-BE49-F238E27FC236}">
                  <a16:creationId xmlns:a16="http://schemas.microsoft.com/office/drawing/2014/main" id="{6FCB4928-0206-ADF7-7353-A2A64FDD2B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3">
              <a:extLst>
                <a:ext uri="{FF2B5EF4-FFF2-40B4-BE49-F238E27FC236}">
                  <a16:creationId xmlns:a16="http://schemas.microsoft.com/office/drawing/2014/main" id="{6ED6849B-2F38-7673-4651-7CDC98176A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4">
              <a:extLst>
                <a:ext uri="{FF2B5EF4-FFF2-40B4-BE49-F238E27FC236}">
                  <a16:creationId xmlns:a16="http://schemas.microsoft.com/office/drawing/2014/main" id="{7E6797C1-155A-FA4B-D1F4-959133D323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5">
              <a:extLst>
                <a:ext uri="{FF2B5EF4-FFF2-40B4-BE49-F238E27FC236}">
                  <a16:creationId xmlns:a16="http://schemas.microsoft.com/office/drawing/2014/main" id="{45FF0EEE-CEB4-04B5-43A0-B6C0A797C0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6">
              <a:extLst>
                <a:ext uri="{FF2B5EF4-FFF2-40B4-BE49-F238E27FC236}">
                  <a16:creationId xmlns:a16="http://schemas.microsoft.com/office/drawing/2014/main" id="{BCCC5D55-52F5-E99A-E3CD-0FCFEC1338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7">
              <a:extLst>
                <a:ext uri="{FF2B5EF4-FFF2-40B4-BE49-F238E27FC236}">
                  <a16:creationId xmlns:a16="http://schemas.microsoft.com/office/drawing/2014/main" id="{E78C19E1-3456-3428-0CAE-41B5786336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8">
              <a:extLst>
                <a:ext uri="{FF2B5EF4-FFF2-40B4-BE49-F238E27FC236}">
                  <a16:creationId xmlns:a16="http://schemas.microsoft.com/office/drawing/2014/main" id="{86C6725B-B1A7-1086-32E7-BF67E242AC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9">
              <a:extLst>
                <a:ext uri="{FF2B5EF4-FFF2-40B4-BE49-F238E27FC236}">
                  <a16:creationId xmlns:a16="http://schemas.microsoft.com/office/drawing/2014/main" id="{C3298CFF-C18B-37C7-572E-7EAA3CF227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0">
              <a:extLst>
                <a:ext uri="{FF2B5EF4-FFF2-40B4-BE49-F238E27FC236}">
                  <a16:creationId xmlns:a16="http://schemas.microsoft.com/office/drawing/2014/main" id="{EBF372EF-6A1F-E719-47BD-A1A70D9D2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1">
              <a:extLst>
                <a:ext uri="{FF2B5EF4-FFF2-40B4-BE49-F238E27FC236}">
                  <a16:creationId xmlns:a16="http://schemas.microsoft.com/office/drawing/2014/main" id="{C315FB4F-2EA2-D747-2E22-D91C73815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2">
              <a:extLst>
                <a:ext uri="{FF2B5EF4-FFF2-40B4-BE49-F238E27FC236}">
                  <a16:creationId xmlns:a16="http://schemas.microsoft.com/office/drawing/2014/main" id="{E645333F-4730-1813-2EE4-84A9BA14B1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3">
              <a:extLst>
                <a:ext uri="{FF2B5EF4-FFF2-40B4-BE49-F238E27FC236}">
                  <a16:creationId xmlns:a16="http://schemas.microsoft.com/office/drawing/2014/main" id="{DB92C3B8-81D4-3BF3-DB43-95F7E90E80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4">
              <a:extLst>
                <a:ext uri="{FF2B5EF4-FFF2-40B4-BE49-F238E27FC236}">
                  <a16:creationId xmlns:a16="http://schemas.microsoft.com/office/drawing/2014/main" id="{1EB9335B-0E2D-EC05-FCB4-47BBD3A35A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5">
              <a:extLst>
                <a:ext uri="{FF2B5EF4-FFF2-40B4-BE49-F238E27FC236}">
                  <a16:creationId xmlns:a16="http://schemas.microsoft.com/office/drawing/2014/main" id="{98F62B9C-270E-D9B9-7058-BD3C79D410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5" name="Group 64">
            <a:extLst>
              <a:ext uri="{FF2B5EF4-FFF2-40B4-BE49-F238E27FC236}">
                <a16:creationId xmlns:a16="http://schemas.microsoft.com/office/drawing/2014/main" id="{085EC274-1D5E-AB6F-58F2-B8730B8840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66" name="Rectangle 65">
              <a:extLst>
                <a:ext uri="{FF2B5EF4-FFF2-40B4-BE49-F238E27FC236}">
                  <a16:creationId xmlns:a16="http://schemas.microsoft.com/office/drawing/2014/main" id="{72BF8956-9145-E6D2-6EA4-F859DDF26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67" name="Isosceles Triangle 22">
              <a:extLst>
                <a:ext uri="{FF2B5EF4-FFF2-40B4-BE49-F238E27FC236}">
                  <a16:creationId xmlns:a16="http://schemas.microsoft.com/office/drawing/2014/main" id="{68B51B25-3D68-C0C4-94F1-55984EE5A2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8" name="Rectangle 67">
              <a:extLst>
                <a:ext uri="{FF2B5EF4-FFF2-40B4-BE49-F238E27FC236}">
                  <a16:creationId xmlns:a16="http://schemas.microsoft.com/office/drawing/2014/main" id="{EEB39C0A-A200-49DB-F3D0-4DB5964F84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70" name="Rectangle 69">
            <a:extLst>
              <a:ext uri="{FF2B5EF4-FFF2-40B4-BE49-F238E27FC236}">
                <a16:creationId xmlns:a16="http://schemas.microsoft.com/office/drawing/2014/main" id="{CC1D7CFC-10DC-5876-579A-8311F8F65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71">
            <a:extLst>
              <a:ext uri="{FF2B5EF4-FFF2-40B4-BE49-F238E27FC236}">
                <a16:creationId xmlns:a16="http://schemas.microsoft.com/office/drawing/2014/main" id="{A8E4A9A7-9FA7-8C8E-8D4E-005FE59B68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73" name="Freeform 5">
              <a:extLst>
                <a:ext uri="{FF2B5EF4-FFF2-40B4-BE49-F238E27FC236}">
                  <a16:creationId xmlns:a16="http://schemas.microsoft.com/office/drawing/2014/main" id="{3E90783B-C128-5C10-B62E-F92027ECD4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 name="Freeform 6">
              <a:extLst>
                <a:ext uri="{FF2B5EF4-FFF2-40B4-BE49-F238E27FC236}">
                  <a16:creationId xmlns:a16="http://schemas.microsoft.com/office/drawing/2014/main" id="{C0E4E240-E72A-A871-5DC6-87B3E403F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 name="Freeform 7">
              <a:extLst>
                <a:ext uri="{FF2B5EF4-FFF2-40B4-BE49-F238E27FC236}">
                  <a16:creationId xmlns:a16="http://schemas.microsoft.com/office/drawing/2014/main" id="{30E799C8-408F-FF32-3797-0564E09081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6" name="Freeform 8">
              <a:extLst>
                <a:ext uri="{FF2B5EF4-FFF2-40B4-BE49-F238E27FC236}">
                  <a16:creationId xmlns:a16="http://schemas.microsoft.com/office/drawing/2014/main" id="{6DF006D5-C5EE-136E-29C9-52B7B826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9">
              <a:extLst>
                <a:ext uri="{FF2B5EF4-FFF2-40B4-BE49-F238E27FC236}">
                  <a16:creationId xmlns:a16="http://schemas.microsoft.com/office/drawing/2014/main" id="{17D7A30E-64C5-BA9E-B407-57C6991C7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10">
              <a:extLst>
                <a:ext uri="{FF2B5EF4-FFF2-40B4-BE49-F238E27FC236}">
                  <a16:creationId xmlns:a16="http://schemas.microsoft.com/office/drawing/2014/main" id="{C9D07875-00CB-48C3-05DC-7992094C44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11">
              <a:extLst>
                <a:ext uri="{FF2B5EF4-FFF2-40B4-BE49-F238E27FC236}">
                  <a16:creationId xmlns:a16="http://schemas.microsoft.com/office/drawing/2014/main" id="{FBA6F359-CF91-F040-2DF8-980E813A5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12">
              <a:extLst>
                <a:ext uri="{FF2B5EF4-FFF2-40B4-BE49-F238E27FC236}">
                  <a16:creationId xmlns:a16="http://schemas.microsoft.com/office/drawing/2014/main" id="{7F77C56D-3342-92C6-E193-0B4D2BED3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13">
              <a:extLst>
                <a:ext uri="{FF2B5EF4-FFF2-40B4-BE49-F238E27FC236}">
                  <a16:creationId xmlns:a16="http://schemas.microsoft.com/office/drawing/2014/main" id="{348E29DA-DE31-F896-DFF7-3FBD547F40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14">
              <a:extLst>
                <a:ext uri="{FF2B5EF4-FFF2-40B4-BE49-F238E27FC236}">
                  <a16:creationId xmlns:a16="http://schemas.microsoft.com/office/drawing/2014/main" id="{FD3899D0-1BDF-23AB-664A-D7433B107A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5">
              <a:extLst>
                <a:ext uri="{FF2B5EF4-FFF2-40B4-BE49-F238E27FC236}">
                  <a16:creationId xmlns:a16="http://schemas.microsoft.com/office/drawing/2014/main" id="{38096528-CE17-15D0-568C-0DC036CDF9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6">
              <a:extLst>
                <a:ext uri="{FF2B5EF4-FFF2-40B4-BE49-F238E27FC236}">
                  <a16:creationId xmlns:a16="http://schemas.microsoft.com/office/drawing/2014/main" id="{C1D59EC5-09A2-92C2-C329-07095A6A8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7">
              <a:extLst>
                <a:ext uri="{FF2B5EF4-FFF2-40B4-BE49-F238E27FC236}">
                  <a16:creationId xmlns:a16="http://schemas.microsoft.com/office/drawing/2014/main" id="{DF13B24F-3EE1-ABA0-F0A3-0D39A18522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8">
              <a:extLst>
                <a:ext uri="{FF2B5EF4-FFF2-40B4-BE49-F238E27FC236}">
                  <a16:creationId xmlns:a16="http://schemas.microsoft.com/office/drawing/2014/main" id="{B201B2F5-09DB-6514-5541-6EF930E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9">
              <a:extLst>
                <a:ext uri="{FF2B5EF4-FFF2-40B4-BE49-F238E27FC236}">
                  <a16:creationId xmlns:a16="http://schemas.microsoft.com/office/drawing/2014/main" id="{6D5C36DF-FA31-22F6-E56F-97AE4371A1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20">
              <a:extLst>
                <a:ext uri="{FF2B5EF4-FFF2-40B4-BE49-F238E27FC236}">
                  <a16:creationId xmlns:a16="http://schemas.microsoft.com/office/drawing/2014/main" id="{E0AD0F85-96EF-DBCA-E582-8ED4A490DD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21">
              <a:extLst>
                <a:ext uri="{FF2B5EF4-FFF2-40B4-BE49-F238E27FC236}">
                  <a16:creationId xmlns:a16="http://schemas.microsoft.com/office/drawing/2014/main" id="{B97A4DA2-9AD9-5BAD-A318-CD20FE3D82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22">
              <a:extLst>
                <a:ext uri="{FF2B5EF4-FFF2-40B4-BE49-F238E27FC236}">
                  <a16:creationId xmlns:a16="http://schemas.microsoft.com/office/drawing/2014/main" id="{48DA81B8-8FBC-0BC7-3353-A6BA3874FB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23">
              <a:extLst>
                <a:ext uri="{FF2B5EF4-FFF2-40B4-BE49-F238E27FC236}">
                  <a16:creationId xmlns:a16="http://schemas.microsoft.com/office/drawing/2014/main" id="{32849175-01C1-08A8-BC42-7FCC89148A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24">
              <a:extLst>
                <a:ext uri="{FF2B5EF4-FFF2-40B4-BE49-F238E27FC236}">
                  <a16:creationId xmlns:a16="http://schemas.microsoft.com/office/drawing/2014/main" id="{D660E695-1D29-C47D-5649-2CC33F1CB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25">
              <a:extLst>
                <a:ext uri="{FF2B5EF4-FFF2-40B4-BE49-F238E27FC236}">
                  <a16:creationId xmlns:a16="http://schemas.microsoft.com/office/drawing/2014/main" id="{449A4092-8ABD-D5C4-A2FF-26C5D415F1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useBgFill="1">
        <p:nvSpPr>
          <p:cNvPr id="95" name="Rectangle 94">
            <a:extLst>
              <a:ext uri="{FF2B5EF4-FFF2-40B4-BE49-F238E27FC236}">
                <a16:creationId xmlns:a16="http://schemas.microsoft.com/office/drawing/2014/main" id="{FE564A89-E7B2-A051-CCB2-AF81808DE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D33F709-5B1E-A92B-A2EE-4E59C0151C04}"/>
              </a:ext>
            </a:extLst>
          </p:cNvPr>
          <p:cNvSpPr txBox="1"/>
          <p:nvPr/>
        </p:nvSpPr>
        <p:spPr>
          <a:xfrm>
            <a:off x="2142222" y="147091"/>
            <a:ext cx="9736868" cy="1375076"/>
          </a:xfrm>
          <a:prstGeom prst="rect">
            <a:avLst/>
          </a:prstGeom>
        </p:spPr>
        <p:txBody>
          <a:bodyPr vert="horz" lIns="228600" tIns="228600" rIns="228600" bIns="228600" rtlCol="0" anchor="t">
            <a:normAutofit/>
          </a:bodyPr>
          <a:lstStyle/>
          <a:p>
            <a:pPr defTabSz="914400">
              <a:lnSpc>
                <a:spcPct val="85000"/>
              </a:lnSpc>
              <a:spcBef>
                <a:spcPct val="0"/>
              </a:spcBef>
              <a:spcAft>
                <a:spcPts val="600"/>
              </a:spcAft>
            </a:pPr>
            <a:r>
              <a:rPr lang="en-US" sz="5200" b="1" spc="-150" dirty="0">
                <a:solidFill>
                  <a:srgbClr val="C00000"/>
                </a:solidFill>
                <a:latin typeface="Calibri" panose="020F0502020204030204" pitchFamily="34" charset="0"/>
                <a:ea typeface="+mj-ea"/>
                <a:cs typeface="Calibri" panose="020F0502020204030204" pitchFamily="34" charset="0"/>
              </a:rPr>
              <a:t>How to Register and Log In</a:t>
            </a:r>
          </a:p>
        </p:txBody>
      </p:sp>
      <p:sp>
        <p:nvSpPr>
          <p:cNvPr id="97" name="Isosceles Triangle 96">
            <a:extLst>
              <a:ext uri="{FF2B5EF4-FFF2-40B4-BE49-F238E27FC236}">
                <a16:creationId xmlns:a16="http://schemas.microsoft.com/office/drawing/2014/main" id="{EA41BC4C-81C6-7D45-7329-39DB256FE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4" name="Content Placeholder 2">
            <a:extLst>
              <a:ext uri="{FF2B5EF4-FFF2-40B4-BE49-F238E27FC236}">
                <a16:creationId xmlns:a16="http://schemas.microsoft.com/office/drawing/2014/main" id="{5583B374-6486-9D4D-35B5-47DDD2E2FFEC}"/>
              </a:ext>
            </a:extLst>
          </p:cNvPr>
          <p:cNvSpPr txBox="1">
            <a:spLocks/>
          </p:cNvSpPr>
          <p:nvPr/>
        </p:nvSpPr>
        <p:spPr>
          <a:xfrm>
            <a:off x="1923665" y="1141711"/>
            <a:ext cx="10006397" cy="702964"/>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646113" indent="-452438">
              <a:lnSpc>
                <a:spcPct val="100000"/>
              </a:lnSpc>
              <a:spcBef>
                <a:spcPts val="600"/>
              </a:spcBef>
              <a:spcAft>
                <a:spcPts val="600"/>
              </a:spcAft>
            </a:pPr>
            <a:r>
              <a:rPr lang="en-US" sz="3200" dirty="0">
                <a:hlinkClick r:id="rId2"/>
              </a:rPr>
              <a:t>https://participant.empower-retirement.com/</a:t>
            </a:r>
            <a:r>
              <a:rPr lang="en-US" sz="3200" dirty="0"/>
              <a:t> </a:t>
            </a:r>
          </a:p>
          <a:p>
            <a:pPr marL="646113" indent="-452438">
              <a:lnSpc>
                <a:spcPct val="100000"/>
              </a:lnSpc>
              <a:spcBef>
                <a:spcPts val="0"/>
              </a:spcBef>
              <a:spcAft>
                <a:spcPts val="600"/>
              </a:spcAft>
            </a:pPr>
            <a:endParaRPr lang="en-US" sz="2800" dirty="0"/>
          </a:p>
        </p:txBody>
      </p:sp>
      <p:pic>
        <p:nvPicPr>
          <p:cNvPr id="5" name="Picture 4">
            <a:extLst>
              <a:ext uri="{FF2B5EF4-FFF2-40B4-BE49-F238E27FC236}">
                <a16:creationId xmlns:a16="http://schemas.microsoft.com/office/drawing/2014/main" id="{DF4A7333-7AC2-F8E9-C886-BE1D4CC9E4EF}"/>
              </a:ext>
            </a:extLst>
          </p:cNvPr>
          <p:cNvPicPr>
            <a:picLocks noChangeAspect="1"/>
          </p:cNvPicPr>
          <p:nvPr/>
        </p:nvPicPr>
        <p:blipFill>
          <a:blip r:embed="rId3"/>
          <a:stretch>
            <a:fillRect/>
          </a:stretch>
        </p:blipFill>
        <p:spPr>
          <a:xfrm>
            <a:off x="2148875" y="1844675"/>
            <a:ext cx="7772400" cy="4673600"/>
          </a:xfrm>
          <a:prstGeom prst="rect">
            <a:avLst/>
          </a:prstGeom>
        </p:spPr>
      </p:pic>
    </p:spTree>
    <p:extLst>
      <p:ext uri="{BB962C8B-B14F-4D97-AF65-F5344CB8AC3E}">
        <p14:creationId xmlns:p14="http://schemas.microsoft.com/office/powerpoint/2010/main" val="4224142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23163</TotalTime>
  <Words>510</Words>
  <Application>Microsoft Macintosh PowerPoint</Application>
  <PresentationFormat>Widescreen</PresentationFormat>
  <Paragraphs>55</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Calibri Light</vt:lpstr>
      <vt:lpstr>Rockwell</vt:lpstr>
      <vt:lpstr>Wingdings</vt:lpstr>
      <vt:lpstr>Atlas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Jackie Wang</dc:creator>
  <cp:lastModifiedBy>Jackie Wang</cp:lastModifiedBy>
  <cp:revision>136</cp:revision>
  <cp:lastPrinted>2025-08-18T19:50:11Z</cp:lastPrinted>
  <dcterms:created xsi:type="dcterms:W3CDTF">2024-02-07T22:07:28Z</dcterms:created>
  <dcterms:modified xsi:type="dcterms:W3CDTF">2026-04-23T20:56:19Z</dcterms:modified>
</cp:coreProperties>
</file>